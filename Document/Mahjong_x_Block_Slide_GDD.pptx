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Tỉ trọng</c:v>
                </c:pt>
              </c:strCache>
            </c:strRef>
          </c:tx>
          <c:spPr>
            <a:solidFill>
              <a:srgbClr val="E8B6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009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B6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6A9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IAP</c:v>
                  </c:pt>
                  <c:pt idx="1">
                    <c:v>Quảng cáo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</c:v>
                </c:pt>
                <c:pt idx="1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009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B572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DB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1009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1009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Xu</c:v>
                </c:pt>
              </c:strCache>
            </c:strRef>
          </c:tx>
          <c:spPr>
            <a:solidFill>
              <a:srgbClr val="E8B64C"/>
            </a:solidFill>
            <a:ln w="31750" cap="flat">
              <a:solidFill>
                <a:srgbClr val="E8B6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6ECD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B64C"/>
              </a:solidFill>
              <a:ln w="9525" cap="flat">
                <a:solidFill>
                  <a:srgbClr val="E8B6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Lv1</c:v>
                  </c:pt>
                  <c:pt idx="1">
                    <c:v>Lv10</c:v>
                  </c:pt>
                  <c:pt idx="2">
                    <c:v>Lv30</c:v>
                  </c:pt>
                  <c:pt idx="3">
                    <c:v>Lv50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17</c:v>
                </c:pt>
                <c:pt idx="2">
                  <c:v>64</c:v>
                </c:pt>
                <c:pt idx="3">
                  <c:v>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6ECD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DB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7B57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DB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1009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1009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Final Outputs/GDD.md, mục 1 (Tổng quan). Ảnh: gameplay thật, Final Outputs/MahjongXBlock.html.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Wire 23/04/2026 (Block Blast Q1 2026). Logic Loft Games (Mahjong City Tours). Game Growth Advisor 16/04/2026 va 02/04/2026 (ty trong IAP/Ads, tang truong hybrid-casual). So lieu ben thu ba trich dan lai, khong truy xuat truc tiep Sensor Tower.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 so sanh trich tu muc 5 cua Market-Research-Block-Puzzle-va-Mahjong-Solitaire.md. Luu y khi pitch: dong khung la 'chua tim thay trong khao sat ban dau', khong phai 'doc nhat thi truong'.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Nguon: Final Outputs/GDD.md muc 2.3 (Luat Match &amp; thuat toan Cascade), ham p24kFindWavePairs.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Nguon: Final Outputs/GDD.md muc 2.1 (Ban choi 2 tang) va 2.2 (Khoi &amp; hang doi Current/Next), bang 14 ham P24K_PIECE.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 tuong theo GDD muc 1. Ky vong trai nghiem doi chieu Deconstructor of Fun (Block Puzzle) va cac nguon Mahjong Solitaire trong Market-Research-Block-Puzzle-va-Mahjong-Solitaire.md.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Nguon: Final Outputs/GDD.md muc 8 (Vong lap gan ket dai han). Anh: modal Nhiem Vu va Diem Danh that trong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Nguon: Final Outputs/GDD.md muc 7 (Kinh te Xu &amp; Cua Hang), doi cong thuc 13/09/2026 (COIN_BASE=9, COIN_GROWTH=1.07). Anh cua hang la screenshot that trong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Hien tai theo GDD.md muc 7 va Assets.md. De xuat future works tong hop tu xu huong 59/41 (Market-Research…, muc 4) va tu de xuat 'doi tac phat hanh / cam SDK ads that' trong ban pitch deck truoc (Document/Mahjong_x_Block_PitchDeck.pptx).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deck/assets/title_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965960"/>
            <a:ext cx="9235440" cy="21671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422452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/ GAME DESIGN OVERVIEW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1645920" y="470916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thả khối lai mạt chược, phong cách Trung Hoa cổ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TỔNG QUAN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Puzzle thả khối lai mạt chược, trên bàn cờ hai tầng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mới, xây từ hai vật liệu quen thuộc với hàng triệu người chơi mobile puzzle.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loại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51760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Block-drop puzzle lai mahjong tile-matching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51760" y="2788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mobile, tỉ lệ dọc 9:16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cách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5176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Hoa cổ — cổng tre, mái ngói cong, đèn lồng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008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51760" y="3886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Âu Mỹ Ấn, khoảng 35 đến 45 tuổi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72000"/>
            <a:ext cx="7498080" cy="960120"/>
          </a:xfrm>
          <a:prstGeom prst="roundRect">
            <a:avLst>
              <a:gd name="adj" fmla="val 8571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7091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khác Mahjong Solitaire và Match 3 thường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14400" y="50017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chơi chủ động chọn nơi đặt khối để che hoặc lộ quân — một quyết định chiến thuật thật, không phải may rủi.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66928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40080" y="5669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cổng tre / menu chính</a:t>
            </a:r>
            <a:endParaRPr lang="en-US" sz="1100" dirty="0"/>
          </a:p>
        </p:txBody>
      </p:sp>
      <p:pic>
        <p:nvPicPr>
          <p:cNvPr id="21" name="Image 1" descr="/home/claude/deck/assets/shot_gamep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9640" y="1417320"/>
            <a:ext cx="2999232" cy="5074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549640" y="1417320"/>
            <a:ext cx="2999232" cy="5074920"/>
          </a:xfrm>
          <a:prstGeom prst="rect">
            <a:avLst/>
          </a:prstGeom>
          <a:ln w="15875">
            <a:solidFill>
              <a:srgbClr val="7B572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GDD tổng hợp, mục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 RESEARCH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thị trường gốc đã rất lớn, và đang tăng trưởng bằng IAP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công khai, ngày 11/09/2026, mỗi nhận định kèm nguồn trích dẫn.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246120" cy="2103120"/>
          </a:xfrm>
          <a:prstGeom prst="roundRect">
            <a:avLst>
              <a:gd name="adj" fmla="val 3913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450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14400" y="31821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tải nhiều nhất thế giới, Q1/2026 (Block Blast!)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 DAU · 300M MAU, 200+ quốc gia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2286000"/>
            <a:ext cx="3246120" cy="2103120"/>
          </a:xfrm>
          <a:prstGeom prst="roundRect">
            <a:avLst>
              <a:gd name="adj" fmla="val 3913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2450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434840" y="31821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tải, Mahjong City Tours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diện dòng Mahjong Solitaire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cấu doanh thu hybrid-casual puzzle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680960" y="2606040"/>
          <a:ext cx="35661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640080" y="4572000"/>
            <a:ext cx="5943600" cy="1463040"/>
          </a:xfrm>
          <a:prstGeom prst="roundRect">
            <a:avLst>
              <a:gd name="adj" fmla="val 5625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với Mahjong × Block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14400" y="501091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Xu kiếm qua chơi, không IAP thật — nhẹ hơn xu hướng 59/41, một lựa chọn có chủ đích.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572000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6858000" y="4572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store listing / competitor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Market-Research-Block-Puzzle-va-Mahjong-Solitaire.md — xem slide 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ELEVATOR PITCH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" y="155448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“Mình che quân này lại, hay để nó lộ ra ngay?”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103120" y="28803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kéo thả một thao tác, trên bàn cờ hai tầng: che quân để khóa, rồi tự tay lộ lại đúng lúc để Match.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0" y="393192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2743200" y="3931920"/>
            <a:ext cx="6675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key art / gameplay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Elevator pitch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UNIQUE SELLING POINT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 che rồi tự lộ lại, chưa thấy ở 2 genre gốc và 3 hybrid đã kiểm tra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theo đúng luật đã dẫn nguồn, không phải suy diễn.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6070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103120"/>
                <a:gridCol w="2103120"/>
                <a:gridCol w="2103120"/>
                <a:gridCol w="23317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9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Mahjong Solitaire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9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Puzzle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9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hiện 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9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0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Mahjong × Block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/ lộ quân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Cố định, không tạo được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khái niệm này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thấy ở 3 game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B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tạo bằng hành động đặt khối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30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Áp lực cốt lõi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Bố cục quyết định trước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gian thu hẹp dần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không gian chứa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B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Cân bằng mở khóa và che lại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30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Kinh doanh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Đa phần Ads + IAP nhẹ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nặng hoặc IAP nặng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6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khảo sát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B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+ Xu, không IAP thật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5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301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507492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640080" y="50749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3 gameplay so sánh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Market-Research-Block-Puzzle-va-Mahjong-Solitaire.md, mục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CORE LOOP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lượt đặt khối có thể tạo nhiều wave Match liên tiếp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bàn, đặt khối, Match, rồi cascade — vòng lặp lặp lại mỗi lượt chơi.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27889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41248" y="32004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Next và quân đang lộ mặt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44952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36976" y="23317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38144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38144" y="27889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38144" y="32004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vị trí hợp lệ cho cả khối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41848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833872" y="23317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035040" y="27889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035040" y="32004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mặt, cùng tầng, kề cạnh, đang lộ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38744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430768" y="23317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B33A26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31936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31936" y="27889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631936" y="32004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Mái rơi xuống, có thể kích hoạt wave mới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206240"/>
            <a:ext cx="10607040" cy="685800"/>
          </a:xfrm>
          <a:prstGeom prst="roundRect">
            <a:avLst>
              <a:gd name="adj" fmla="val 12000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206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wave dài nhất trong 1 lượt được cộng điểm và mở nhiệm vụ chain.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0080" y="507492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40080" y="50749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cascade / chuỗi wave trong game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GDD tổng hợp, mục 2.3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CORE MECHANICS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tầng biến việc lộ mặt thành một lựa chọn chiến thuật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ô trên bàn chứa tối đa hai quân: một sàn, một mái.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395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77824" y="2816352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sàn và mái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" y="32004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ô tối đa 2 quân, cần còn tầng trống mới rơi được.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78808" y="228600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16552" y="2395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416552" y="2816352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để trì hoãn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16552" y="32004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Quân sàn bị mái che thì không tính là đang lộ.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17536" y="228600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2395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955280" y="2816352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để tạo chuỗi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55280" y="32004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Mái biến mất, sàn lộ ra, có thể kích hoạt wave tiếp.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160520"/>
            <a:ext cx="10607040" cy="685800"/>
          </a:xfrm>
          <a:prstGeom prst="roundRect">
            <a:avLst>
              <a:gd name="adj" fmla="val 12000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160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hình polyomino cố định, không xoay. Người chơi chỉ thấy Current và Next.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502920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640080" y="502920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bàn 2 tầng / các hình polyomino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GDD tổng hợp, mục 2.1 và 2.2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TARGET AUDIENCE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chơi casual, quen cả hai dòng game, không thích áp lực thời gian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 theo GDD, đối chiếu hành vi genre gốc từ market research.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414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người chơi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lý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24028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Âu, Mỹ, Ấn Độ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tuổi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240280" y="3154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35 đến 45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3566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240280" y="3566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mobile, dọc 9:16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nghiệm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240280" y="3977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 cả mahjong solitaire lẫn block puzzle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35040" y="22860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 vọng trải nghiệm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09360" y="2724912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áp lực thời gian hay phản xạ, giống 2 genre gốc — quan sát kỹ, chơi từng phiên ngắn. Đây là điểm giữ chân người chơi quen thuộc, không phải điểm khác biệt.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61772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40080" y="46177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chân dung người chơi mục tiêu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GDD.md mục 1; Market-Research…, mục 1.2, 2.2 và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MOTIVATION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lặp gắn kết hằng ngày, đặt trên core loop thay vì thay thế nó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vụ, điểm danh và sưu tầm cosmetic dùng chung Xu và booster sẵn có.</a:t>
            </a:r>
            <a:endParaRPr lang="en-US" sz="1350" dirty="0"/>
          </a:p>
        </p:txBody>
      </p:sp>
      <p:pic>
        <p:nvPicPr>
          <p:cNvPr id="8" name="Image 1" descr="/home/claude/deck/assets/shot_que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286000"/>
            <a:ext cx="2697480" cy="3063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86000"/>
            <a:ext cx="2697480" cy="3063240"/>
          </a:xfrm>
          <a:prstGeom prst="rect">
            <a:avLst/>
          </a:prstGeom>
          <a:ln w="15875">
            <a:solidFill>
              <a:srgbClr val="7B572F"/>
            </a:solidFill>
            <a:prstDash val="solid"/>
          </a:ln>
        </p:spPr>
      </p:sp>
      <p:pic>
        <p:nvPicPr>
          <p:cNvPr id="10" name="Image 2" descr="/home/claude/deck/assets/shot_check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66160" y="2286000"/>
            <a:ext cx="2697480" cy="30632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566160" y="2286000"/>
            <a:ext cx="2697480" cy="3063240"/>
          </a:xfrm>
          <a:prstGeom prst="rect">
            <a:avLst/>
          </a:prstGeom>
          <a:ln w="15875">
            <a:solidFill>
              <a:srgbClr val="7B572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29400" y="2286000"/>
            <a:ext cx="4617720" cy="1417320"/>
          </a:xfrm>
          <a:prstGeom prst="roundRect">
            <a:avLst>
              <a:gd name="adj" fmla="val 5806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903720" y="2423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hằng ngày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903720" y="2743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trong 6 nhiệm vụ mẫu, xác định theo ngày. Thưởng 15 đến 40 Xu cộng booster.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29400" y="3840480"/>
            <a:ext cx="4617720" cy="1417320"/>
          </a:xfrm>
          <a:prstGeom prst="roundRect">
            <a:avLst>
              <a:gd name="adj" fmla="val 5806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03720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30 ngày, cộng dồn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903720" y="4297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mất tiến độ nếu lỡ ngày. Mốc lớn ở ngày 10, 20, 30.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5468112"/>
            <a:ext cx="10607040" cy="822960"/>
          </a:xfrm>
          <a:prstGeom prst="roundRect">
            <a:avLst>
              <a:gd name="adj" fmla="val 10000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5468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thêm 23 skin cosmetic để sưu tầm dài hơi, thuần thẩm mỹ.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GDD tổng hợp, mục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ECONOMY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 cong Xu đổi từ logarith sang exponential, dốc mạnh về cuối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ngày 13/09/2026, khớp với đường cong độ khó tăng dần qua 5 chương.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Xu mỗi màn thắng, theo level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606040"/>
          <a:ext cx="5120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ở mọi màn chốt chương (10, 20, 30, 40, 50). +15 Xu nếu thắng không dùng booster.</a:t>
            </a:r>
            <a:endParaRPr lang="en-US" sz="1100" dirty="0"/>
          </a:p>
        </p:txBody>
      </p:sp>
      <p:pic>
        <p:nvPicPr>
          <p:cNvPr id="11" name="Image 1" descr="/home/claude/deck/assets/shot_sh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2286000"/>
            <a:ext cx="2331720" cy="35204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80760" y="2286000"/>
            <a:ext cx="2331720" cy="3520440"/>
          </a:xfrm>
          <a:prstGeom prst="rect">
            <a:avLst/>
          </a:prstGeom>
          <a:ln w="15875">
            <a:solidFill>
              <a:srgbClr val="7B572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595360" y="2286000"/>
            <a:ext cx="2651760" cy="3520440"/>
          </a:xfrm>
          <a:prstGeom prst="roundRect">
            <a:avLst>
              <a:gd name="adj" fmla="val 3103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86968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cả đời chơi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869680" y="27249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4.149–4.959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8869680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Xu, tệ nhất đến tối ưu, qua 50 màn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869680" y="38862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skin (895–2.265 Xu) và gói booster 100 Xu, toàn bộ cosmetic.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5623560"/>
            <a:ext cx="10607040" cy="685800"/>
          </a:xfrm>
          <a:prstGeom prst="roundRect">
            <a:avLst>
              <a:gd name="adj" fmla="val 12000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5623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biến thiết kế: người chơi tệ nhất vẫn đủ 966 Xu ở màn 30 để mua skin rẻ nhất.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GDD tổng hợp, mục 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MONETIZATION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Hiện tại nhẹ hơn xu hướng thị trường, còn dư địa cho future works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giữ nguyên: không đổi luật thắng thua, không Pay to Win.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tại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Ads interstitial và rewarded, có đường bỏ qua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Xu kiếm qua chơi, không giao dịch tiền thật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465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23 món cosmetic, ads hiện là lớp no-op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22860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tương lai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09360" y="26974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Gói Xu / khởi đầu trả phí, đổi booster hoặc skin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30449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Gói bỏ quảng cáo một lần cho nhóm 35–45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3392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Mùa sự kiện theo chủ đề, thêm skin giới hạn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37398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Cắm SDK ads thật, thay lớp no-op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43484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40080" y="44348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mockup gói IAP / mùa sự kiện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5806440"/>
            <a:ext cx="10607040" cy="530352"/>
          </a:xfrm>
          <a:prstGeom prst="roundRect">
            <a:avLst>
              <a:gd name="adj" fmla="val 15517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8064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hướng future works chỉ tác động cosmetic hoặc tốc độ, không đổi độ khó hay thắng thua.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xu hướng 59/41 IAP/Ads — xem slide Market Research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1575" y="384048"/>
            <a:ext cx="457200" cy="457200"/>
          </a:xfrm>
          <a:prstGeom prst="ellipse">
            <a:avLst/>
          </a:prstGeom>
          <a:solidFill>
            <a:srgbClr val="1B1009">
              <a:alpha val="70000"/>
            </a:srgbClr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231575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Nguồn dữ liệu và tài liệu nội bộ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647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công khai, ngày 11/09/2026 — không dùng số liệu phân tích trả phí.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3A2417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thị trường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2688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Business Wire — Block Blast! Q1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Deconstructor of Fun — Block Blast (2026)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AppGrooves · Logic Loft Games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Solitaire Bliss / Solitaired · World Mahjong Tour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3895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Game Growth Advisor — hybrid casual 2026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228600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nội bộ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26883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Final Outputs/GDD.md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09360" y="2990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so-sanh-core-mechanics-mahjong-va-block-puzzle.md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Market-Research-Block-Puzzle-va-Mahjong-Solitaire.md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09360" y="3593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Final Outputs/Assets.md — nguồn art và âm thanh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09360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6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Final Outputs/MahjongXBlock.html — self-test tự động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475488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B1009">
              <a:alpha val="65000"/>
            </a:srgbClr>
          </a:solidFill>
          <a:ln w="12700">
            <a:solidFill>
              <a:srgbClr val="E8B64C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640080" y="4754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— logo nguồn / store listing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5806440"/>
            <a:ext cx="10607040" cy="530352"/>
          </a:xfrm>
          <a:prstGeom prst="roundRect">
            <a:avLst>
              <a:gd name="adj" fmla="val 15517"/>
            </a:avLst>
          </a:prstGeom>
          <a:solidFill>
            <a:srgbClr val="5C3921"/>
          </a:solidFill>
          <a:ln w="12700">
            <a:solidFill>
              <a:srgbClr val="7B57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8064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hạn: không phỏng vấn người chơi thật, không A/B test, hybrid chỉ khảo sát 4 tựa đầu kết quả tìm kiếm.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× Block — 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6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cùng chơi thử — Mahjong × Block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nguyenmaikhoi62@gmail.com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2026-09-13T12:28:10Z</dcterms:created>
  <dcterms:modified xsi:type="dcterms:W3CDTF">2026-09-13T12:28:10Z</dcterms:modified>
</cp:coreProperties>
</file>