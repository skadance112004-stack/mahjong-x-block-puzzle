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LAP17257\AppData\Local\Temp\claude\c--Users-LAP17257-OneDrive---VNG-Group-JSC-Documents-Mahjong-x-Block\41d87727-9b1f-40ca-a02d-f00006e694c3\scratchpad\title_text.png">    </p:cNvPr>
          <p:cNvPicPr>
            <a:picLocks noChangeAspect="1"/>
          </p:cNvPicPr>
          <p:nvPr/>
        </p:nvPicPr>
        <p:blipFill>
          <a:blip r:embed="rId2"/>
          <a:stretch>
            <a:fillRect/>
          </a:stretch>
        </p:blipFill>
        <p:spPr>
          <a:xfrm>
            <a:off x="1706728" y="2148840"/>
            <a:ext cx="8778240" cy="2057400"/>
          </a:xfrm>
          <a:prstGeom prst="rect">
            <a:avLst/>
          </a:prstGeom>
        </p:spPr>
      </p:pic>
      <p:sp>
        <p:nvSpPr>
          <p:cNvPr id="3" name="Text 0"/>
          <p:cNvSpPr/>
          <p:nvPr/>
        </p:nvSpPr>
        <p:spPr>
          <a:xfrm>
            <a:off x="0" y="4892040"/>
            <a:ext cx="12191695" cy="365760"/>
          </a:xfrm>
          <a:prstGeom prst="rect">
            <a:avLst/>
          </a:prstGeom>
          <a:noFill/>
          <a:ln/>
        </p:spPr>
        <p:txBody>
          <a:bodyPr wrap="square" rtlCol="0" anchor="ctr"/>
          <a:lstStyle/>
          <a:p>
            <a:pPr algn="ctr" indent="0" marL="0">
              <a:buNone/>
            </a:pPr>
            <a:r>
              <a:rPr lang="en-US" sz="1300" spc="300" kern="0" dirty="0">
                <a:solidFill>
                  <a:srgbClr val="C9BAA0"/>
                </a:solidFill>
                <a:latin typeface="Segoe UI" pitchFamily="34" charset="0"/>
                <a:ea typeface="Segoe UI" pitchFamily="34" charset="-122"/>
                <a:cs typeface="Segoe UI" pitchFamily="34" charset="-120"/>
              </a:rPr>
              <a:t>THUYẾT TRÌNH GIỚI THIỆU DỰ ÁN  ·  15–20 PHÚT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NỘI DUNG</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Hôm nay chúng ta sẽ đi qua</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sp>
        <p:nvSpPr>
          <p:cNvPr id="5" name="Text 3"/>
          <p:cNvSpPr/>
          <p:nvPr/>
        </p:nvSpPr>
        <p:spPr>
          <a:xfrm>
            <a:off x="914400" y="1691640"/>
            <a:ext cx="822960" cy="713232"/>
          </a:xfrm>
          <a:prstGeom prst="rect">
            <a:avLst/>
          </a:prstGeom>
          <a:noFill/>
          <a:ln/>
        </p:spPr>
        <p:txBody>
          <a:bodyPr wrap="square" rtlCol="0" anchor="ctr"/>
          <a:lstStyle/>
          <a:p>
            <a:pPr indent="0" marL="0">
              <a:buNone/>
            </a:pPr>
            <a:r>
              <a:rPr lang="en-US" sz="2400" dirty="0">
                <a:solidFill>
                  <a:srgbClr val="E8B64C"/>
                </a:solidFill>
                <a:latin typeface="Georgia" pitchFamily="34" charset="0"/>
                <a:ea typeface="Georgia" pitchFamily="34" charset="-122"/>
                <a:cs typeface="Georgia" pitchFamily="34" charset="-120"/>
              </a:rPr>
              <a:t>00</a:t>
            </a:r>
            <a:endParaRPr lang="en-US" sz="2400" dirty="0"/>
          </a:p>
        </p:txBody>
      </p:sp>
      <p:sp>
        <p:nvSpPr>
          <p:cNvPr id="6" name="Text 4"/>
          <p:cNvSpPr/>
          <p:nvPr/>
        </p:nvSpPr>
        <p:spPr>
          <a:xfrm>
            <a:off x="1828800" y="1691640"/>
            <a:ext cx="5943600" cy="365760"/>
          </a:xfrm>
          <a:prstGeom prst="rect">
            <a:avLst/>
          </a:prstGeom>
          <a:noFill/>
          <a:ln/>
        </p:spPr>
        <p:txBody>
          <a:bodyPr wrap="square" rtlCol="0" anchor="ctr"/>
          <a:lstStyle/>
          <a:p>
            <a:pPr indent="0" marL="0">
              <a:buNone/>
            </a:pPr>
            <a:r>
              <a:rPr lang="en-US" sz="1800" b="1" dirty="0">
                <a:solidFill>
                  <a:srgbClr val="F6ECD8"/>
                </a:solidFill>
                <a:latin typeface="Segoe UI" pitchFamily="34" charset="0"/>
                <a:ea typeface="Segoe UI" pitchFamily="34" charset="-122"/>
                <a:cs typeface="Segoe UI" pitchFamily="34" charset="-120"/>
              </a:rPr>
              <a:t>Tổng quan game</a:t>
            </a:r>
            <a:endParaRPr lang="en-US" sz="1800" dirty="0"/>
          </a:p>
        </p:txBody>
      </p:sp>
      <p:sp>
        <p:nvSpPr>
          <p:cNvPr id="7" name="Text 5"/>
          <p:cNvSpPr/>
          <p:nvPr/>
        </p:nvSpPr>
        <p:spPr>
          <a:xfrm>
            <a:off x="1828800" y="2057400"/>
            <a:ext cx="8046720" cy="329184"/>
          </a:xfrm>
          <a:prstGeom prst="rect">
            <a:avLst/>
          </a:prstGeom>
          <a:noFill/>
          <a:ln/>
        </p:spPr>
        <p:txBody>
          <a:bodyPr wrap="square" rtlCol="0" anchor="ctr"/>
          <a:lstStyle/>
          <a:p>
            <a:pPr indent="0" marL="0">
              <a:buNone/>
            </a:pPr>
            <a:r>
              <a:rPr lang="en-US" sz="1300" dirty="0">
                <a:solidFill>
                  <a:srgbClr val="C9BAA0"/>
                </a:solidFill>
                <a:latin typeface="Segoe UI" pitchFamily="34" charset="0"/>
                <a:ea typeface="Segoe UI" pitchFamily="34" charset="-122"/>
                <a:cs typeface="Segoe UI" pitchFamily="34" charset="-120"/>
              </a:rPr>
              <a:t>Thể loại · nền tảng · đối tượng · trụ cột thiết kế</a:t>
            </a:r>
            <a:endParaRPr lang="en-US" sz="1300" dirty="0"/>
          </a:p>
        </p:txBody>
      </p:sp>
      <p:sp>
        <p:nvSpPr>
          <p:cNvPr id="8" name="Text 6"/>
          <p:cNvSpPr/>
          <p:nvPr/>
        </p:nvSpPr>
        <p:spPr>
          <a:xfrm>
            <a:off x="914400" y="2441448"/>
            <a:ext cx="822960" cy="713232"/>
          </a:xfrm>
          <a:prstGeom prst="rect">
            <a:avLst/>
          </a:prstGeom>
          <a:noFill/>
          <a:ln/>
        </p:spPr>
        <p:txBody>
          <a:bodyPr wrap="square" rtlCol="0" anchor="ctr"/>
          <a:lstStyle/>
          <a:p>
            <a:pPr indent="0" marL="0">
              <a:buNone/>
            </a:pPr>
            <a:r>
              <a:rPr lang="en-US" sz="2400" dirty="0">
                <a:solidFill>
                  <a:srgbClr val="E8B64C"/>
                </a:solidFill>
                <a:latin typeface="Georgia" pitchFamily="34" charset="0"/>
                <a:ea typeface="Georgia" pitchFamily="34" charset="-122"/>
                <a:cs typeface="Georgia" pitchFamily="34" charset="-120"/>
              </a:rPr>
              <a:t>01</a:t>
            </a:r>
            <a:endParaRPr lang="en-US" sz="2400" dirty="0"/>
          </a:p>
        </p:txBody>
      </p:sp>
      <p:sp>
        <p:nvSpPr>
          <p:cNvPr id="9" name="Text 7"/>
          <p:cNvSpPr/>
          <p:nvPr/>
        </p:nvSpPr>
        <p:spPr>
          <a:xfrm>
            <a:off x="1828800" y="2441448"/>
            <a:ext cx="5943600" cy="365760"/>
          </a:xfrm>
          <a:prstGeom prst="rect">
            <a:avLst/>
          </a:prstGeom>
          <a:noFill/>
          <a:ln/>
        </p:spPr>
        <p:txBody>
          <a:bodyPr wrap="square" rtlCol="0" anchor="ctr"/>
          <a:lstStyle/>
          <a:p>
            <a:pPr indent="0" marL="0">
              <a:buNone/>
            </a:pPr>
            <a:r>
              <a:rPr lang="en-US" sz="1800" b="1" dirty="0">
                <a:solidFill>
                  <a:srgbClr val="F6ECD8"/>
                </a:solidFill>
                <a:latin typeface="Segoe UI" pitchFamily="34" charset="0"/>
                <a:ea typeface="Segoe UI" pitchFamily="34" charset="-122"/>
                <a:cs typeface="Segoe UI" pitchFamily="34" charset="-120"/>
              </a:rPr>
              <a:t>Ý tưởng cốt lõi</a:t>
            </a:r>
            <a:endParaRPr lang="en-US" sz="1800" dirty="0"/>
          </a:p>
        </p:txBody>
      </p:sp>
      <p:sp>
        <p:nvSpPr>
          <p:cNvPr id="10" name="Text 8"/>
          <p:cNvSpPr/>
          <p:nvPr/>
        </p:nvSpPr>
        <p:spPr>
          <a:xfrm>
            <a:off x="1828800" y="2807208"/>
            <a:ext cx="8046720" cy="329184"/>
          </a:xfrm>
          <a:prstGeom prst="rect">
            <a:avLst/>
          </a:prstGeom>
          <a:noFill/>
          <a:ln/>
        </p:spPr>
        <p:txBody>
          <a:bodyPr wrap="square" rtlCol="0" anchor="ctr"/>
          <a:lstStyle/>
          <a:p>
            <a:pPr indent="0" marL="0">
              <a:buNone/>
            </a:pPr>
            <a:r>
              <a:rPr lang="en-US" sz="1300" dirty="0">
                <a:solidFill>
                  <a:srgbClr val="C9BAA0"/>
                </a:solidFill>
                <a:latin typeface="Segoe UI" pitchFamily="34" charset="0"/>
                <a:ea typeface="Segoe UI" pitchFamily="34" charset="-122"/>
                <a:cs typeface="Segoe UI" pitchFamily="34" charset="-120"/>
              </a:rPr>
              <a:t>Câu đố kéo-thả 2 tầng — vì sao là hybrid Mahjong × Block</a:t>
            </a:r>
            <a:endParaRPr lang="en-US" sz="1300" dirty="0"/>
          </a:p>
        </p:txBody>
      </p:sp>
      <p:sp>
        <p:nvSpPr>
          <p:cNvPr id="11" name="Text 9"/>
          <p:cNvSpPr/>
          <p:nvPr/>
        </p:nvSpPr>
        <p:spPr>
          <a:xfrm>
            <a:off x="914400" y="3191256"/>
            <a:ext cx="822960" cy="713232"/>
          </a:xfrm>
          <a:prstGeom prst="rect">
            <a:avLst/>
          </a:prstGeom>
          <a:noFill/>
          <a:ln/>
        </p:spPr>
        <p:txBody>
          <a:bodyPr wrap="square" rtlCol="0" anchor="ctr"/>
          <a:lstStyle/>
          <a:p>
            <a:pPr indent="0" marL="0">
              <a:buNone/>
            </a:pPr>
            <a:r>
              <a:rPr lang="en-US" sz="2400" dirty="0">
                <a:solidFill>
                  <a:srgbClr val="E8B64C"/>
                </a:solidFill>
                <a:latin typeface="Georgia" pitchFamily="34" charset="0"/>
                <a:ea typeface="Georgia" pitchFamily="34" charset="-122"/>
                <a:cs typeface="Georgia" pitchFamily="34" charset="-120"/>
              </a:rPr>
              <a:t>02</a:t>
            </a:r>
            <a:endParaRPr lang="en-US" sz="2400" dirty="0"/>
          </a:p>
        </p:txBody>
      </p:sp>
      <p:sp>
        <p:nvSpPr>
          <p:cNvPr id="12" name="Text 10"/>
          <p:cNvSpPr/>
          <p:nvPr/>
        </p:nvSpPr>
        <p:spPr>
          <a:xfrm>
            <a:off x="1828800" y="3191256"/>
            <a:ext cx="5943600" cy="365760"/>
          </a:xfrm>
          <a:prstGeom prst="rect">
            <a:avLst/>
          </a:prstGeom>
          <a:noFill/>
          <a:ln/>
        </p:spPr>
        <p:txBody>
          <a:bodyPr wrap="square" rtlCol="0" anchor="ctr"/>
          <a:lstStyle/>
          <a:p>
            <a:pPr indent="0" marL="0">
              <a:buNone/>
            </a:pPr>
            <a:r>
              <a:rPr lang="en-US" sz="1800" b="1" dirty="0">
                <a:solidFill>
                  <a:srgbClr val="F6ECD8"/>
                </a:solidFill>
                <a:latin typeface="Segoe UI" pitchFamily="34" charset="0"/>
                <a:ea typeface="Segoe UI" pitchFamily="34" charset="-122"/>
                <a:cs typeface="Segoe UI" pitchFamily="34" charset="-120"/>
              </a:rPr>
              <a:t>Cơ chế &amp; vòng lặp</a:t>
            </a:r>
            <a:endParaRPr lang="en-US" sz="1800" dirty="0"/>
          </a:p>
        </p:txBody>
      </p:sp>
      <p:sp>
        <p:nvSpPr>
          <p:cNvPr id="13" name="Text 11"/>
          <p:cNvSpPr/>
          <p:nvPr/>
        </p:nvSpPr>
        <p:spPr>
          <a:xfrm>
            <a:off x="1828800" y="3557016"/>
            <a:ext cx="8046720" cy="329184"/>
          </a:xfrm>
          <a:prstGeom prst="rect">
            <a:avLst/>
          </a:prstGeom>
          <a:noFill/>
          <a:ln/>
        </p:spPr>
        <p:txBody>
          <a:bodyPr wrap="square" rtlCol="0" anchor="ctr"/>
          <a:lstStyle/>
          <a:p>
            <a:pPr indent="0" marL="0">
              <a:buNone/>
            </a:pPr>
            <a:r>
              <a:rPr lang="en-US" sz="1300" dirty="0">
                <a:solidFill>
                  <a:srgbClr val="C9BAA0"/>
                </a:solidFill>
                <a:latin typeface="Segoe UI" pitchFamily="34" charset="0"/>
                <a:ea typeface="Segoe UI" pitchFamily="34" charset="-122"/>
                <a:cs typeface="Segoe UI" pitchFamily="34" charset="-120"/>
              </a:rPr>
              <a:t>Che–Lộ–Match–Cascade, và các lớp luật đặc biệt</a:t>
            </a:r>
            <a:endParaRPr lang="en-US" sz="1300" dirty="0"/>
          </a:p>
        </p:txBody>
      </p:sp>
      <p:sp>
        <p:nvSpPr>
          <p:cNvPr id="14" name="Text 12"/>
          <p:cNvSpPr/>
          <p:nvPr/>
        </p:nvSpPr>
        <p:spPr>
          <a:xfrm>
            <a:off x="914400" y="3941064"/>
            <a:ext cx="822960" cy="713232"/>
          </a:xfrm>
          <a:prstGeom prst="rect">
            <a:avLst/>
          </a:prstGeom>
          <a:noFill/>
          <a:ln/>
        </p:spPr>
        <p:txBody>
          <a:bodyPr wrap="square" rtlCol="0" anchor="ctr"/>
          <a:lstStyle/>
          <a:p>
            <a:pPr indent="0" marL="0">
              <a:buNone/>
            </a:pPr>
            <a:r>
              <a:rPr lang="en-US" sz="2400" dirty="0">
                <a:solidFill>
                  <a:srgbClr val="E8B64C"/>
                </a:solidFill>
                <a:latin typeface="Georgia" pitchFamily="34" charset="0"/>
                <a:ea typeface="Georgia" pitchFamily="34" charset="-122"/>
                <a:cs typeface="Georgia" pitchFamily="34" charset="-120"/>
              </a:rPr>
              <a:t>03</a:t>
            </a:r>
            <a:endParaRPr lang="en-US" sz="2400" dirty="0"/>
          </a:p>
        </p:txBody>
      </p:sp>
      <p:sp>
        <p:nvSpPr>
          <p:cNvPr id="15" name="Text 13"/>
          <p:cNvSpPr/>
          <p:nvPr/>
        </p:nvSpPr>
        <p:spPr>
          <a:xfrm>
            <a:off x="1828800" y="3941064"/>
            <a:ext cx="5943600" cy="365760"/>
          </a:xfrm>
          <a:prstGeom prst="rect">
            <a:avLst/>
          </a:prstGeom>
          <a:noFill/>
          <a:ln/>
        </p:spPr>
        <p:txBody>
          <a:bodyPr wrap="square" rtlCol="0" anchor="ctr"/>
          <a:lstStyle/>
          <a:p>
            <a:pPr indent="0" marL="0">
              <a:buNone/>
            </a:pPr>
            <a:r>
              <a:rPr lang="en-US" sz="1800" b="1" dirty="0">
                <a:solidFill>
                  <a:srgbClr val="F6ECD8"/>
                </a:solidFill>
                <a:latin typeface="Segoe UI" pitchFamily="34" charset="0"/>
                <a:ea typeface="Segoe UI" pitchFamily="34" charset="-122"/>
                <a:cs typeface="Segoe UI" pitchFamily="34" charset="-120"/>
              </a:rPr>
              <a:t>Thiết kế màn chơi</a:t>
            </a:r>
            <a:endParaRPr lang="en-US" sz="1800" dirty="0"/>
          </a:p>
        </p:txBody>
      </p:sp>
      <p:sp>
        <p:nvSpPr>
          <p:cNvPr id="16" name="Text 14"/>
          <p:cNvSpPr/>
          <p:nvPr/>
        </p:nvSpPr>
        <p:spPr>
          <a:xfrm>
            <a:off x="1828800" y="4306824"/>
            <a:ext cx="8046720" cy="329184"/>
          </a:xfrm>
          <a:prstGeom prst="rect">
            <a:avLst/>
          </a:prstGeom>
          <a:noFill/>
          <a:ln/>
        </p:spPr>
        <p:txBody>
          <a:bodyPr wrap="square" rtlCol="0" anchor="ctr"/>
          <a:lstStyle/>
          <a:p>
            <a:pPr indent="0" marL="0">
              <a:buNone/>
            </a:pPr>
            <a:r>
              <a:rPr lang="en-US" sz="1300" dirty="0">
                <a:solidFill>
                  <a:srgbClr val="C9BAA0"/>
                </a:solidFill>
                <a:latin typeface="Segoe UI" pitchFamily="34" charset="0"/>
                <a:ea typeface="Segoe UI" pitchFamily="34" charset="-122"/>
                <a:cs typeface="Segoe UI" pitchFamily="34" charset="-120"/>
              </a:rPr>
              <a:t>50 màn · 5 chương · đường cong độ khó</a:t>
            </a:r>
            <a:endParaRPr lang="en-US" sz="1300" dirty="0"/>
          </a:p>
        </p:txBody>
      </p:sp>
      <p:sp>
        <p:nvSpPr>
          <p:cNvPr id="17" name="Text 15"/>
          <p:cNvSpPr/>
          <p:nvPr/>
        </p:nvSpPr>
        <p:spPr>
          <a:xfrm>
            <a:off x="914400" y="4690872"/>
            <a:ext cx="822960" cy="713232"/>
          </a:xfrm>
          <a:prstGeom prst="rect">
            <a:avLst/>
          </a:prstGeom>
          <a:noFill/>
          <a:ln/>
        </p:spPr>
        <p:txBody>
          <a:bodyPr wrap="square" rtlCol="0" anchor="ctr"/>
          <a:lstStyle/>
          <a:p>
            <a:pPr indent="0" marL="0">
              <a:buNone/>
            </a:pPr>
            <a:r>
              <a:rPr lang="en-US" sz="2400" dirty="0">
                <a:solidFill>
                  <a:srgbClr val="E8B64C"/>
                </a:solidFill>
                <a:latin typeface="Georgia" pitchFamily="34" charset="0"/>
                <a:ea typeface="Georgia" pitchFamily="34" charset="-122"/>
                <a:cs typeface="Georgia" pitchFamily="34" charset="-120"/>
              </a:rPr>
              <a:t>04</a:t>
            </a:r>
            <a:endParaRPr lang="en-US" sz="2400" dirty="0"/>
          </a:p>
        </p:txBody>
      </p:sp>
      <p:sp>
        <p:nvSpPr>
          <p:cNvPr id="18" name="Text 16"/>
          <p:cNvSpPr/>
          <p:nvPr/>
        </p:nvSpPr>
        <p:spPr>
          <a:xfrm>
            <a:off x="1828800" y="4690872"/>
            <a:ext cx="5943600" cy="365760"/>
          </a:xfrm>
          <a:prstGeom prst="rect">
            <a:avLst/>
          </a:prstGeom>
          <a:noFill/>
          <a:ln/>
        </p:spPr>
        <p:txBody>
          <a:bodyPr wrap="square" rtlCol="0" anchor="ctr"/>
          <a:lstStyle/>
          <a:p>
            <a:pPr indent="0" marL="0">
              <a:buNone/>
            </a:pPr>
            <a:r>
              <a:rPr lang="en-US" sz="1800" b="1" dirty="0">
                <a:solidFill>
                  <a:srgbClr val="F6ECD8"/>
                </a:solidFill>
                <a:latin typeface="Segoe UI" pitchFamily="34" charset="0"/>
                <a:ea typeface="Segoe UI" pitchFamily="34" charset="-122"/>
                <a:cs typeface="Segoe UI" pitchFamily="34" charset="-120"/>
              </a:rPr>
              <a:t>Meta &amp; Kinh tế</a:t>
            </a:r>
            <a:endParaRPr lang="en-US" sz="1800" dirty="0"/>
          </a:p>
        </p:txBody>
      </p:sp>
      <p:sp>
        <p:nvSpPr>
          <p:cNvPr id="19" name="Text 17"/>
          <p:cNvSpPr/>
          <p:nvPr/>
        </p:nvSpPr>
        <p:spPr>
          <a:xfrm>
            <a:off x="1828800" y="5056632"/>
            <a:ext cx="8046720" cy="329184"/>
          </a:xfrm>
          <a:prstGeom prst="rect">
            <a:avLst/>
          </a:prstGeom>
          <a:noFill/>
          <a:ln/>
        </p:spPr>
        <p:txBody>
          <a:bodyPr wrap="square" rtlCol="0" anchor="ctr"/>
          <a:lstStyle/>
          <a:p>
            <a:pPr indent="0" marL="0">
              <a:buNone/>
            </a:pPr>
            <a:r>
              <a:rPr lang="en-US" sz="1300" dirty="0">
                <a:solidFill>
                  <a:srgbClr val="C9BAA0"/>
                </a:solidFill>
                <a:latin typeface="Segoe UI" pitchFamily="34" charset="0"/>
                <a:ea typeface="Segoe UI" pitchFamily="34" charset="-122"/>
                <a:cs typeface="Segoe UI" pitchFamily="34" charset="-120"/>
              </a:rPr>
              <a:t>Xu, cửa hàng, và bài toán cân bằng</a:t>
            </a:r>
            <a:endParaRPr lang="en-US" sz="1300" dirty="0"/>
          </a:p>
        </p:txBody>
      </p:sp>
      <p:sp>
        <p:nvSpPr>
          <p:cNvPr id="20" name="Text 18"/>
          <p:cNvSpPr/>
          <p:nvPr/>
        </p:nvSpPr>
        <p:spPr>
          <a:xfrm>
            <a:off x="914400" y="5440680"/>
            <a:ext cx="822960" cy="713232"/>
          </a:xfrm>
          <a:prstGeom prst="rect">
            <a:avLst/>
          </a:prstGeom>
          <a:noFill/>
          <a:ln/>
        </p:spPr>
        <p:txBody>
          <a:bodyPr wrap="square" rtlCol="0" anchor="ctr"/>
          <a:lstStyle/>
          <a:p>
            <a:pPr indent="0" marL="0">
              <a:buNone/>
            </a:pPr>
            <a:r>
              <a:rPr lang="en-US" sz="2400" dirty="0">
                <a:solidFill>
                  <a:srgbClr val="E8B64C"/>
                </a:solidFill>
                <a:latin typeface="Georgia" pitchFamily="34" charset="0"/>
                <a:ea typeface="Georgia" pitchFamily="34" charset="-122"/>
                <a:cs typeface="Georgia" pitchFamily="34" charset="-120"/>
              </a:rPr>
              <a:t>05</a:t>
            </a:r>
            <a:endParaRPr lang="en-US" sz="2400" dirty="0"/>
          </a:p>
        </p:txBody>
      </p:sp>
      <p:sp>
        <p:nvSpPr>
          <p:cNvPr id="21" name="Text 19"/>
          <p:cNvSpPr/>
          <p:nvPr/>
        </p:nvSpPr>
        <p:spPr>
          <a:xfrm>
            <a:off x="1828800" y="5440680"/>
            <a:ext cx="5943600" cy="365760"/>
          </a:xfrm>
          <a:prstGeom prst="rect">
            <a:avLst/>
          </a:prstGeom>
          <a:noFill/>
          <a:ln/>
        </p:spPr>
        <p:txBody>
          <a:bodyPr wrap="square" rtlCol="0" anchor="ctr"/>
          <a:lstStyle/>
          <a:p>
            <a:pPr indent="0" marL="0">
              <a:buNone/>
            </a:pPr>
            <a:r>
              <a:rPr lang="en-US" sz="1800" b="1" dirty="0">
                <a:solidFill>
                  <a:srgbClr val="F6ECD8"/>
                </a:solidFill>
                <a:latin typeface="Segoe UI" pitchFamily="34" charset="0"/>
                <a:ea typeface="Segoe UI" pitchFamily="34" charset="-122"/>
                <a:cs typeface="Segoe UI" pitchFamily="34" charset="-120"/>
              </a:rPr>
              <a:t>Hiện trạng &amp; kế hoạch</a:t>
            </a:r>
            <a:endParaRPr lang="en-US" sz="1800" dirty="0"/>
          </a:p>
        </p:txBody>
      </p:sp>
      <p:sp>
        <p:nvSpPr>
          <p:cNvPr id="22" name="Text 20"/>
          <p:cNvSpPr/>
          <p:nvPr/>
        </p:nvSpPr>
        <p:spPr>
          <a:xfrm>
            <a:off x="1828800" y="5806440"/>
            <a:ext cx="8046720" cy="329184"/>
          </a:xfrm>
          <a:prstGeom prst="rect">
            <a:avLst/>
          </a:prstGeom>
          <a:noFill/>
          <a:ln/>
        </p:spPr>
        <p:txBody>
          <a:bodyPr wrap="square" rtlCol="0" anchor="ctr"/>
          <a:lstStyle/>
          <a:p>
            <a:pPr indent="0" marL="0">
              <a:buNone/>
            </a:pPr>
            <a:r>
              <a:rPr lang="en-US" sz="1300" dirty="0">
                <a:solidFill>
                  <a:srgbClr val="C9BAA0"/>
                </a:solidFill>
                <a:latin typeface="Segoe UI" pitchFamily="34" charset="0"/>
                <a:ea typeface="Segoe UI" pitchFamily="34" charset="-122"/>
                <a:cs typeface="Segoe UI" pitchFamily="34" charset="-120"/>
              </a:rPr>
              <a:t>Những gì đã xong, bước tiếp theo</a:t>
            </a:r>
            <a:endParaRPr lang="en-US" sz="1300" dirty="0"/>
          </a:p>
        </p:txBody>
      </p:sp>
      <p:sp>
        <p:nvSpPr>
          <p:cNvPr id="23" name="Text 21"/>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24" name="Text 22"/>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00 · TỔNG QUAN GAME</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Game Overview</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sp>
        <p:nvSpPr>
          <p:cNvPr id="5" name="Text 3"/>
          <p:cNvSpPr/>
          <p:nvPr/>
        </p:nvSpPr>
        <p:spPr>
          <a:xfrm>
            <a:off x="822960" y="1874520"/>
            <a:ext cx="2103120" cy="502920"/>
          </a:xfrm>
          <a:prstGeom prst="rect">
            <a:avLst/>
          </a:prstGeom>
          <a:noFill/>
          <a:ln/>
        </p:spPr>
        <p:txBody>
          <a:bodyPr wrap="square" rtlCol="0" anchor="ctr"/>
          <a:lstStyle/>
          <a:p>
            <a:pPr indent="0" marL="0">
              <a:buNone/>
            </a:pPr>
            <a:r>
              <a:rPr lang="en-US" sz="1250" b="1" spc="150" kern="0" dirty="0">
                <a:solidFill>
                  <a:srgbClr val="E8B64C"/>
                </a:solidFill>
                <a:latin typeface="Segoe UI" pitchFamily="34" charset="0"/>
                <a:ea typeface="Segoe UI" pitchFamily="34" charset="-122"/>
                <a:cs typeface="Segoe UI" pitchFamily="34" charset="-120"/>
              </a:rPr>
              <a:t>THỂ LOẠI</a:t>
            </a:r>
            <a:endParaRPr lang="en-US" sz="1250" dirty="0"/>
          </a:p>
        </p:txBody>
      </p:sp>
      <p:sp>
        <p:nvSpPr>
          <p:cNvPr id="6" name="Text 4"/>
          <p:cNvSpPr/>
          <p:nvPr/>
        </p:nvSpPr>
        <p:spPr>
          <a:xfrm>
            <a:off x="3063240" y="1874520"/>
            <a:ext cx="8305495" cy="548640"/>
          </a:xfrm>
          <a:prstGeom prst="rect">
            <a:avLst/>
          </a:prstGeom>
          <a:noFill/>
          <a:ln/>
        </p:spPr>
        <p:txBody>
          <a:bodyPr wrap="square" rtlCol="0" anchor="t"/>
          <a:lstStyle/>
          <a:p>
            <a:pPr indent="0" marL="0">
              <a:lnSpc>
                <a:spcPct val="120000"/>
              </a:lnSpc>
              <a:buNone/>
            </a:pPr>
            <a:r>
              <a:rPr lang="en-US" sz="1450" dirty="0">
                <a:solidFill>
                  <a:srgbClr val="F6ECD8"/>
                </a:solidFill>
                <a:latin typeface="Segoe UI" pitchFamily="34" charset="0"/>
                <a:ea typeface="Segoe UI" pitchFamily="34" charset="-122"/>
                <a:cs typeface="Segoe UI" pitchFamily="34" charset="-120"/>
              </a:rPr>
              <a:t>Puzzle — Match ghép mặt quân × thả khối (Block-drop hybrid)</a:t>
            </a:r>
            <a:endParaRPr lang="en-US" sz="1450" dirty="0"/>
          </a:p>
        </p:txBody>
      </p:sp>
      <p:sp>
        <p:nvSpPr>
          <p:cNvPr id="7" name="Text 5"/>
          <p:cNvSpPr/>
          <p:nvPr/>
        </p:nvSpPr>
        <p:spPr>
          <a:xfrm>
            <a:off x="822960" y="2560320"/>
            <a:ext cx="2103120" cy="502920"/>
          </a:xfrm>
          <a:prstGeom prst="rect">
            <a:avLst/>
          </a:prstGeom>
          <a:noFill/>
          <a:ln/>
        </p:spPr>
        <p:txBody>
          <a:bodyPr wrap="square" rtlCol="0" anchor="ctr"/>
          <a:lstStyle/>
          <a:p>
            <a:pPr indent="0" marL="0">
              <a:buNone/>
            </a:pPr>
            <a:r>
              <a:rPr lang="en-US" sz="1250" b="1" spc="150" kern="0" dirty="0">
                <a:solidFill>
                  <a:srgbClr val="E8B64C"/>
                </a:solidFill>
                <a:latin typeface="Segoe UI" pitchFamily="34" charset="0"/>
                <a:ea typeface="Segoe UI" pitchFamily="34" charset="-122"/>
                <a:cs typeface="Segoe UI" pitchFamily="34" charset="-120"/>
              </a:rPr>
              <a:t>NỀN TẢNG</a:t>
            </a:r>
            <a:endParaRPr lang="en-US" sz="1250" dirty="0"/>
          </a:p>
        </p:txBody>
      </p:sp>
      <p:sp>
        <p:nvSpPr>
          <p:cNvPr id="8" name="Text 6"/>
          <p:cNvSpPr/>
          <p:nvPr/>
        </p:nvSpPr>
        <p:spPr>
          <a:xfrm>
            <a:off x="3063240" y="2560320"/>
            <a:ext cx="8305495" cy="548640"/>
          </a:xfrm>
          <a:prstGeom prst="rect">
            <a:avLst/>
          </a:prstGeom>
          <a:noFill/>
          <a:ln/>
        </p:spPr>
        <p:txBody>
          <a:bodyPr wrap="square" rtlCol="0" anchor="t"/>
          <a:lstStyle/>
          <a:p>
            <a:pPr indent="0" marL="0">
              <a:lnSpc>
                <a:spcPct val="120000"/>
              </a:lnSpc>
              <a:buNone/>
            </a:pPr>
            <a:r>
              <a:rPr lang="en-US" sz="1450" dirty="0">
                <a:solidFill>
                  <a:srgbClr val="F6ECD8"/>
                </a:solidFill>
                <a:latin typeface="Segoe UI" pitchFamily="34" charset="0"/>
                <a:ea typeface="Segoe UI" pitchFamily="34" charset="-122"/>
                <a:cs typeface="Segoe UI" pitchFamily="34" charset="-120"/>
              </a:rPr>
              <a:t>HTML5, trình duyệt di động, dọc màn hình, cảm ứng</a:t>
            </a:r>
            <a:endParaRPr lang="en-US" sz="1450" dirty="0"/>
          </a:p>
        </p:txBody>
      </p:sp>
      <p:sp>
        <p:nvSpPr>
          <p:cNvPr id="9" name="Text 7"/>
          <p:cNvSpPr/>
          <p:nvPr/>
        </p:nvSpPr>
        <p:spPr>
          <a:xfrm>
            <a:off x="822960" y="3246120"/>
            <a:ext cx="2103120" cy="502920"/>
          </a:xfrm>
          <a:prstGeom prst="rect">
            <a:avLst/>
          </a:prstGeom>
          <a:noFill/>
          <a:ln/>
        </p:spPr>
        <p:txBody>
          <a:bodyPr wrap="square" rtlCol="0" anchor="ctr"/>
          <a:lstStyle/>
          <a:p>
            <a:pPr indent="0" marL="0">
              <a:buNone/>
            </a:pPr>
            <a:r>
              <a:rPr lang="en-US" sz="1250" b="1" spc="150" kern="0" dirty="0">
                <a:solidFill>
                  <a:srgbClr val="E8B64C"/>
                </a:solidFill>
                <a:latin typeface="Segoe UI" pitchFamily="34" charset="0"/>
                <a:ea typeface="Segoe UI" pitchFamily="34" charset="-122"/>
                <a:cs typeface="Segoe UI" pitchFamily="34" charset="-120"/>
              </a:rPr>
              <a:t>ĐỐI TƯỢNG</a:t>
            </a:r>
            <a:endParaRPr lang="en-US" sz="1250" dirty="0"/>
          </a:p>
        </p:txBody>
      </p:sp>
      <p:sp>
        <p:nvSpPr>
          <p:cNvPr id="10" name="Text 8"/>
          <p:cNvSpPr/>
          <p:nvPr/>
        </p:nvSpPr>
        <p:spPr>
          <a:xfrm>
            <a:off x="3063240" y="3246120"/>
            <a:ext cx="8305495" cy="548640"/>
          </a:xfrm>
          <a:prstGeom prst="rect">
            <a:avLst/>
          </a:prstGeom>
          <a:noFill/>
          <a:ln/>
        </p:spPr>
        <p:txBody>
          <a:bodyPr wrap="square" rtlCol="0" anchor="t"/>
          <a:lstStyle/>
          <a:p>
            <a:pPr indent="0" marL="0">
              <a:lnSpc>
                <a:spcPct val="120000"/>
              </a:lnSpc>
              <a:buNone/>
            </a:pPr>
            <a:r>
              <a:rPr lang="en-US" sz="1450" dirty="0">
                <a:solidFill>
                  <a:srgbClr val="F6ECD8"/>
                </a:solidFill>
                <a:latin typeface="Segoe UI" pitchFamily="34" charset="0"/>
                <a:ea typeface="Segoe UI" pitchFamily="34" charset="-122"/>
                <a:cs typeface="Segoe UI" pitchFamily="34" charset="-120"/>
              </a:rPr>
              <a:t>Người chơi casual puzzle — đã quen Mahjong solitaire hoặc Block Blast, muốn có quyết định sâu hơn</a:t>
            </a:r>
            <a:endParaRPr lang="en-US" sz="1450" dirty="0"/>
          </a:p>
        </p:txBody>
      </p:sp>
      <p:sp>
        <p:nvSpPr>
          <p:cNvPr id="11" name="Text 9"/>
          <p:cNvSpPr/>
          <p:nvPr/>
        </p:nvSpPr>
        <p:spPr>
          <a:xfrm>
            <a:off x="822960" y="3931920"/>
            <a:ext cx="2103120" cy="502920"/>
          </a:xfrm>
          <a:prstGeom prst="rect">
            <a:avLst/>
          </a:prstGeom>
          <a:noFill/>
          <a:ln/>
        </p:spPr>
        <p:txBody>
          <a:bodyPr wrap="square" rtlCol="0" anchor="ctr"/>
          <a:lstStyle/>
          <a:p>
            <a:pPr indent="0" marL="0">
              <a:buNone/>
            </a:pPr>
            <a:r>
              <a:rPr lang="en-US" sz="1250" b="1" spc="150" kern="0" dirty="0">
                <a:solidFill>
                  <a:srgbClr val="E8B64C"/>
                </a:solidFill>
                <a:latin typeface="Segoe UI" pitchFamily="34" charset="0"/>
                <a:ea typeface="Segoe UI" pitchFamily="34" charset="-122"/>
                <a:cs typeface="Segoe UI" pitchFamily="34" charset="-120"/>
              </a:rPr>
              <a:t>PHIÊN CHƠI</a:t>
            </a:r>
            <a:endParaRPr lang="en-US" sz="1250" dirty="0"/>
          </a:p>
        </p:txBody>
      </p:sp>
      <p:sp>
        <p:nvSpPr>
          <p:cNvPr id="12" name="Text 10"/>
          <p:cNvSpPr/>
          <p:nvPr/>
        </p:nvSpPr>
        <p:spPr>
          <a:xfrm>
            <a:off x="3063240" y="3931920"/>
            <a:ext cx="8305495" cy="548640"/>
          </a:xfrm>
          <a:prstGeom prst="rect">
            <a:avLst/>
          </a:prstGeom>
          <a:noFill/>
          <a:ln/>
        </p:spPr>
        <p:txBody>
          <a:bodyPr wrap="square" rtlCol="0" anchor="t"/>
          <a:lstStyle/>
          <a:p>
            <a:pPr indent="0" marL="0">
              <a:lnSpc>
                <a:spcPct val="120000"/>
              </a:lnSpc>
              <a:buNone/>
            </a:pPr>
            <a:r>
              <a:rPr lang="en-US" sz="1450" dirty="0">
                <a:solidFill>
                  <a:srgbClr val="F6ECD8"/>
                </a:solidFill>
                <a:latin typeface="Segoe UI" pitchFamily="34" charset="0"/>
                <a:ea typeface="Segoe UI" pitchFamily="34" charset="-122"/>
                <a:cs typeface="Segoe UI" pitchFamily="34" charset="-120"/>
              </a:rPr>
              <a:t>Ngắn, rời rạc theo từng màn — 1 thao tác kéo-thả mỗi lượt</a:t>
            </a:r>
            <a:endParaRPr lang="en-US" sz="1450" dirty="0"/>
          </a:p>
        </p:txBody>
      </p:sp>
      <p:sp>
        <p:nvSpPr>
          <p:cNvPr id="13" name="Text 11"/>
          <p:cNvSpPr/>
          <p:nvPr/>
        </p:nvSpPr>
        <p:spPr>
          <a:xfrm>
            <a:off x="822960" y="4617720"/>
            <a:ext cx="2103120" cy="502920"/>
          </a:xfrm>
          <a:prstGeom prst="rect">
            <a:avLst/>
          </a:prstGeom>
          <a:noFill/>
          <a:ln/>
        </p:spPr>
        <p:txBody>
          <a:bodyPr wrap="square" rtlCol="0" anchor="ctr"/>
          <a:lstStyle/>
          <a:p>
            <a:pPr indent="0" marL="0">
              <a:buNone/>
            </a:pPr>
            <a:r>
              <a:rPr lang="en-US" sz="1250" b="1" spc="150" kern="0" dirty="0">
                <a:solidFill>
                  <a:srgbClr val="E8B64C"/>
                </a:solidFill>
                <a:latin typeface="Segoe UI" pitchFamily="34" charset="0"/>
                <a:ea typeface="Segoe UI" pitchFamily="34" charset="-122"/>
                <a:cs typeface="Segoe UI" pitchFamily="34" charset="-120"/>
              </a:rPr>
              <a:t>QUY MÔ</a:t>
            </a:r>
            <a:endParaRPr lang="en-US" sz="1250" dirty="0"/>
          </a:p>
        </p:txBody>
      </p:sp>
      <p:sp>
        <p:nvSpPr>
          <p:cNvPr id="14" name="Text 12"/>
          <p:cNvSpPr/>
          <p:nvPr/>
        </p:nvSpPr>
        <p:spPr>
          <a:xfrm>
            <a:off x="3063240" y="4617720"/>
            <a:ext cx="8305495" cy="548640"/>
          </a:xfrm>
          <a:prstGeom prst="rect">
            <a:avLst/>
          </a:prstGeom>
          <a:noFill/>
          <a:ln/>
        </p:spPr>
        <p:txBody>
          <a:bodyPr wrap="square" rtlCol="0" anchor="t"/>
          <a:lstStyle/>
          <a:p>
            <a:pPr indent="0" marL="0">
              <a:lnSpc>
                <a:spcPct val="120000"/>
              </a:lnSpc>
              <a:buNone/>
            </a:pPr>
            <a:r>
              <a:rPr lang="en-US" sz="1450" dirty="0">
                <a:solidFill>
                  <a:srgbClr val="F6ECD8"/>
                </a:solidFill>
                <a:latin typeface="Segoe UI" pitchFamily="34" charset="0"/>
                <a:ea typeface="Segoe UI" pitchFamily="34" charset="-122"/>
                <a:cs typeface="Segoe UI" pitchFamily="34" charset="-120"/>
              </a:rPr>
              <a:t>50 màn · 5 chương · dự án 4 tuần, đang ở giai đoạn hoàn thiện</a:t>
            </a:r>
            <a:endParaRPr lang="en-US" sz="1450" dirty="0"/>
          </a:p>
        </p:txBody>
      </p:sp>
      <p:sp>
        <p:nvSpPr>
          <p:cNvPr id="15" name="Shape 13"/>
          <p:cNvSpPr/>
          <p:nvPr/>
        </p:nvSpPr>
        <p:spPr>
          <a:xfrm>
            <a:off x="822960" y="5349240"/>
            <a:ext cx="10545775" cy="914400"/>
          </a:xfrm>
          <a:prstGeom prst="roundRect">
            <a:avLst>
              <a:gd name="adj" fmla="val 6000"/>
            </a:avLst>
          </a:prstGeom>
          <a:solidFill>
            <a:srgbClr val="3A2A16">
              <a:alpha val="90000"/>
            </a:srgbClr>
          </a:solidFill>
          <a:ln w="9525">
            <a:solidFill>
              <a:srgbClr val="E8B64C">
                <a:alpha val="55000"/>
              </a:srgbClr>
            </a:solidFill>
            <a:prstDash val="solid"/>
          </a:ln>
        </p:spPr>
      </p:sp>
      <p:sp>
        <p:nvSpPr>
          <p:cNvPr id="16" name="Text 14"/>
          <p:cNvSpPr/>
          <p:nvPr/>
        </p:nvSpPr>
        <p:spPr>
          <a:xfrm>
            <a:off x="1051560" y="5440680"/>
            <a:ext cx="10088575" cy="731520"/>
          </a:xfrm>
          <a:prstGeom prst="rect">
            <a:avLst/>
          </a:prstGeom>
          <a:noFill/>
          <a:ln/>
        </p:spPr>
        <p:txBody>
          <a:bodyPr wrap="square" rtlCol="0" anchor="ctr"/>
          <a:lstStyle/>
          <a:p>
            <a:pPr indent="0" marL="0">
              <a:buNone/>
            </a:pPr>
            <a:r>
              <a:rPr lang="en-US" sz="1500" i="1" dirty="0">
                <a:solidFill>
                  <a:srgbClr val="E8B64C"/>
                </a:solidFill>
                <a:latin typeface="Georgia" pitchFamily="34" charset="0"/>
                <a:ea typeface="Georgia" pitchFamily="34" charset="-122"/>
                <a:cs typeface="Georgia" pitchFamily="34" charset="-120"/>
              </a:rPr>
              <a:t>“Puzzle 1-thao-tác nơi việc CHE một quân để khoá nó lại — rồi tự tay lộ ra đúng lúc — là quyết định chiến thuật, không phải trang trí.”</a:t>
            </a:r>
            <a:endParaRPr lang="en-US" sz="1500" dirty="0"/>
          </a:p>
        </p:txBody>
      </p:sp>
      <p:sp>
        <p:nvSpPr>
          <p:cNvPr id="17" name="Text 15"/>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18" name="Text 16"/>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00 · TỔNG QUAN GAME</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Trụ cột thiết kế</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sp>
        <p:nvSpPr>
          <p:cNvPr id="5" name="Shape 3"/>
          <p:cNvSpPr/>
          <p:nvPr/>
        </p:nvSpPr>
        <p:spPr>
          <a:xfrm>
            <a:off x="822960" y="1874520"/>
            <a:ext cx="5090008" cy="1920240"/>
          </a:xfrm>
          <a:prstGeom prst="roundRect">
            <a:avLst>
              <a:gd name="adj" fmla="val 2857"/>
            </a:avLst>
          </a:prstGeom>
          <a:solidFill>
            <a:srgbClr val="3A2A16">
              <a:alpha val="88000"/>
            </a:srgbClr>
          </a:solidFill>
          <a:ln w="9525">
            <a:solidFill>
              <a:srgbClr val="E8B64C">
                <a:alpha val="55000"/>
              </a:srgbClr>
            </a:solidFill>
            <a:prstDash val="solid"/>
          </a:ln>
        </p:spPr>
      </p:sp>
      <p:sp>
        <p:nvSpPr>
          <p:cNvPr id="6" name="Text 4"/>
          <p:cNvSpPr/>
          <p:nvPr/>
        </p:nvSpPr>
        <p:spPr>
          <a:xfrm>
            <a:off x="1051560" y="2057400"/>
            <a:ext cx="4632808" cy="502920"/>
          </a:xfrm>
          <a:prstGeom prst="rect">
            <a:avLst/>
          </a:prstGeom>
          <a:noFill/>
          <a:ln/>
        </p:spPr>
        <p:txBody>
          <a:bodyPr wrap="square" rtlCol="0" anchor="ctr"/>
          <a:lstStyle/>
          <a:p>
            <a:pPr indent="0" marL="0">
              <a:buNone/>
            </a:pPr>
            <a:r>
              <a:rPr lang="en-US" sz="1650" b="1" dirty="0">
                <a:solidFill>
                  <a:srgbClr val="E8B64C"/>
                </a:solidFill>
                <a:latin typeface="Segoe UI" pitchFamily="34" charset="0"/>
                <a:ea typeface="Segoe UI" pitchFamily="34" charset="-122"/>
                <a:cs typeface="Segoe UI" pitchFamily="34" charset="-120"/>
              </a:rPr>
              <a:t>① Quyết định thật, mỗi lượt</a:t>
            </a:r>
            <a:endParaRPr lang="en-US" sz="1650" dirty="0"/>
          </a:p>
        </p:txBody>
      </p:sp>
      <p:sp>
        <p:nvSpPr>
          <p:cNvPr id="7" name="Text 5"/>
          <p:cNvSpPr/>
          <p:nvPr/>
        </p:nvSpPr>
        <p:spPr>
          <a:xfrm>
            <a:off x="1051560" y="2587752"/>
            <a:ext cx="4632808" cy="1005840"/>
          </a:xfrm>
          <a:prstGeom prst="rect">
            <a:avLst/>
          </a:prstGeom>
          <a:noFill/>
          <a:ln/>
        </p:spPr>
        <p:txBody>
          <a:bodyPr wrap="square" rtlCol="0" anchor="ctr"/>
          <a:lstStyle/>
          <a:p>
            <a:pPr indent="0" marL="0">
              <a:lnSpc>
                <a:spcPct val="130000"/>
              </a:lnSpc>
              <a:buNone/>
            </a:pPr>
            <a:r>
              <a:rPr lang="en-US" sz="1300" dirty="0">
                <a:solidFill>
                  <a:srgbClr val="F6ECD8"/>
                </a:solidFill>
                <a:latin typeface="Segoe UI" pitchFamily="34" charset="0"/>
                <a:ea typeface="Segoe UI" pitchFamily="34" charset="-122"/>
                <a:cs typeface="Segoe UI" pitchFamily="34" charset="-120"/>
              </a:rPr>
              <a:t>Che quân để hoãn binh, hay để lộ ngay — không mảng nào của game "luôn luôn đúng" như Block Blast thuần.</a:t>
            </a:r>
            <a:endParaRPr lang="en-US" sz="1300" dirty="0"/>
          </a:p>
        </p:txBody>
      </p:sp>
      <p:sp>
        <p:nvSpPr>
          <p:cNvPr id="8" name="Shape 6"/>
          <p:cNvSpPr/>
          <p:nvPr/>
        </p:nvSpPr>
        <p:spPr>
          <a:xfrm>
            <a:off x="6278728" y="1874520"/>
            <a:ext cx="5090008" cy="1920240"/>
          </a:xfrm>
          <a:prstGeom prst="roundRect">
            <a:avLst>
              <a:gd name="adj" fmla="val 2857"/>
            </a:avLst>
          </a:prstGeom>
          <a:solidFill>
            <a:srgbClr val="3A2A16">
              <a:alpha val="88000"/>
            </a:srgbClr>
          </a:solidFill>
          <a:ln w="9525">
            <a:solidFill>
              <a:srgbClr val="E8B64C">
                <a:alpha val="55000"/>
              </a:srgbClr>
            </a:solidFill>
            <a:prstDash val="solid"/>
          </a:ln>
        </p:spPr>
      </p:sp>
      <p:sp>
        <p:nvSpPr>
          <p:cNvPr id="9" name="Text 7"/>
          <p:cNvSpPr/>
          <p:nvPr/>
        </p:nvSpPr>
        <p:spPr>
          <a:xfrm>
            <a:off x="6507328" y="2057400"/>
            <a:ext cx="4632808" cy="502920"/>
          </a:xfrm>
          <a:prstGeom prst="rect">
            <a:avLst/>
          </a:prstGeom>
          <a:noFill/>
          <a:ln/>
        </p:spPr>
        <p:txBody>
          <a:bodyPr wrap="square" rtlCol="0" anchor="ctr"/>
          <a:lstStyle/>
          <a:p>
            <a:pPr indent="0" marL="0">
              <a:buNone/>
            </a:pPr>
            <a:r>
              <a:rPr lang="en-US" sz="1650" b="1" dirty="0">
                <a:solidFill>
                  <a:srgbClr val="E8B64C"/>
                </a:solidFill>
                <a:latin typeface="Segoe UI" pitchFamily="34" charset="0"/>
                <a:ea typeface="Segoe UI" pitchFamily="34" charset="-122"/>
                <a:cs typeface="Segoe UI" pitchFamily="34" charset="-120"/>
              </a:rPr>
              <a:t>② Học qua chơi, không qua chữ</a:t>
            </a:r>
            <a:endParaRPr lang="en-US" sz="1650" dirty="0"/>
          </a:p>
        </p:txBody>
      </p:sp>
      <p:sp>
        <p:nvSpPr>
          <p:cNvPr id="10" name="Text 8"/>
          <p:cNvSpPr/>
          <p:nvPr/>
        </p:nvSpPr>
        <p:spPr>
          <a:xfrm>
            <a:off x="6507328" y="2587752"/>
            <a:ext cx="4632808" cy="1005840"/>
          </a:xfrm>
          <a:prstGeom prst="rect">
            <a:avLst/>
          </a:prstGeom>
          <a:noFill/>
          <a:ln/>
        </p:spPr>
        <p:txBody>
          <a:bodyPr wrap="square" rtlCol="0" anchor="ctr"/>
          <a:lstStyle/>
          <a:p>
            <a:pPr indent="0" marL="0">
              <a:lnSpc>
                <a:spcPct val="130000"/>
              </a:lnSpc>
              <a:buNone/>
            </a:pPr>
            <a:r>
              <a:rPr lang="en-US" sz="1300" dirty="0">
                <a:solidFill>
                  <a:srgbClr val="F6ECD8"/>
                </a:solidFill>
                <a:latin typeface="Segoe UI" pitchFamily="34" charset="0"/>
                <a:ea typeface="Segoe UI" pitchFamily="34" charset="-122"/>
                <a:cs typeface="Segoe UI" pitchFamily="34" charset="-120"/>
              </a:rPr>
              <a:t>Không màn hình giải thích luật — guideMoves dẫn dắt bằng highlight ngay trên bàn cờ thật, ngay từ Level 1.</a:t>
            </a:r>
            <a:endParaRPr lang="en-US" sz="1300" dirty="0"/>
          </a:p>
        </p:txBody>
      </p:sp>
      <p:sp>
        <p:nvSpPr>
          <p:cNvPr id="11" name="Shape 9"/>
          <p:cNvSpPr/>
          <p:nvPr/>
        </p:nvSpPr>
        <p:spPr>
          <a:xfrm>
            <a:off x="822960" y="4069080"/>
            <a:ext cx="5090008" cy="1920240"/>
          </a:xfrm>
          <a:prstGeom prst="roundRect">
            <a:avLst>
              <a:gd name="adj" fmla="val 2857"/>
            </a:avLst>
          </a:prstGeom>
          <a:solidFill>
            <a:srgbClr val="3A2A16">
              <a:alpha val="88000"/>
            </a:srgbClr>
          </a:solidFill>
          <a:ln w="9525">
            <a:solidFill>
              <a:srgbClr val="E8B64C">
                <a:alpha val="55000"/>
              </a:srgbClr>
            </a:solidFill>
            <a:prstDash val="solid"/>
          </a:ln>
        </p:spPr>
      </p:sp>
      <p:sp>
        <p:nvSpPr>
          <p:cNvPr id="12" name="Text 10"/>
          <p:cNvSpPr/>
          <p:nvPr/>
        </p:nvSpPr>
        <p:spPr>
          <a:xfrm>
            <a:off x="1051560" y="4251960"/>
            <a:ext cx="4632808" cy="502920"/>
          </a:xfrm>
          <a:prstGeom prst="rect">
            <a:avLst/>
          </a:prstGeom>
          <a:noFill/>
          <a:ln/>
        </p:spPr>
        <p:txBody>
          <a:bodyPr wrap="square" rtlCol="0" anchor="ctr"/>
          <a:lstStyle/>
          <a:p>
            <a:pPr indent="0" marL="0">
              <a:buNone/>
            </a:pPr>
            <a:r>
              <a:rPr lang="en-US" sz="1650" b="1" dirty="0">
                <a:solidFill>
                  <a:srgbClr val="E8B64C"/>
                </a:solidFill>
                <a:latin typeface="Segoe UI" pitchFamily="34" charset="0"/>
                <a:ea typeface="Segoe UI" pitchFamily="34" charset="-122"/>
                <a:cs typeface="Segoe UI" pitchFamily="34" charset="-120"/>
              </a:rPr>
              <a:t>③ Zen — rõ ràng, không áp lực ảo</a:t>
            </a:r>
            <a:endParaRPr lang="en-US" sz="1650" dirty="0"/>
          </a:p>
        </p:txBody>
      </p:sp>
      <p:sp>
        <p:nvSpPr>
          <p:cNvPr id="13" name="Text 11"/>
          <p:cNvSpPr/>
          <p:nvPr/>
        </p:nvSpPr>
        <p:spPr>
          <a:xfrm>
            <a:off x="1051560" y="4782312"/>
            <a:ext cx="4632808" cy="1005840"/>
          </a:xfrm>
          <a:prstGeom prst="rect">
            <a:avLst/>
          </a:prstGeom>
          <a:noFill/>
          <a:ln/>
        </p:spPr>
        <p:txBody>
          <a:bodyPr wrap="square" rtlCol="0" anchor="ctr"/>
          <a:lstStyle/>
          <a:p>
            <a:pPr indent="0" marL="0">
              <a:lnSpc>
                <a:spcPct val="130000"/>
              </a:lnSpc>
              <a:buNone/>
            </a:pPr>
            <a:r>
              <a:rPr lang="en-US" sz="1300" dirty="0">
                <a:solidFill>
                  <a:srgbClr val="F6ECD8"/>
                </a:solidFill>
                <a:latin typeface="Segoe UI" pitchFamily="34" charset="0"/>
                <a:ea typeface="Segoe UI" pitchFamily="34" charset="-122"/>
                <a:cs typeface="Segoe UI" pitchFamily="34" charset="-120"/>
              </a:rPr>
              <a:t>Không timer ở core, không jackpot/coin/pháo hoa. Tương phản mạnh, ít chuyển động cùng lúc, tôn trọng Reduced Motion.</a:t>
            </a:r>
            <a:endParaRPr lang="en-US" sz="1300" dirty="0"/>
          </a:p>
        </p:txBody>
      </p:sp>
      <p:sp>
        <p:nvSpPr>
          <p:cNvPr id="14" name="Shape 12"/>
          <p:cNvSpPr/>
          <p:nvPr/>
        </p:nvSpPr>
        <p:spPr>
          <a:xfrm>
            <a:off x="6278728" y="4069080"/>
            <a:ext cx="5090008" cy="1920240"/>
          </a:xfrm>
          <a:prstGeom prst="roundRect">
            <a:avLst>
              <a:gd name="adj" fmla="val 2857"/>
            </a:avLst>
          </a:prstGeom>
          <a:solidFill>
            <a:srgbClr val="3A2A16">
              <a:alpha val="88000"/>
            </a:srgbClr>
          </a:solidFill>
          <a:ln w="9525">
            <a:solidFill>
              <a:srgbClr val="E8B64C">
                <a:alpha val="55000"/>
              </a:srgbClr>
            </a:solidFill>
            <a:prstDash val="solid"/>
          </a:ln>
        </p:spPr>
      </p:sp>
      <p:sp>
        <p:nvSpPr>
          <p:cNvPr id="15" name="Text 13"/>
          <p:cNvSpPr/>
          <p:nvPr/>
        </p:nvSpPr>
        <p:spPr>
          <a:xfrm>
            <a:off x="6507328" y="4251960"/>
            <a:ext cx="4632808" cy="502920"/>
          </a:xfrm>
          <a:prstGeom prst="rect">
            <a:avLst/>
          </a:prstGeom>
          <a:noFill/>
          <a:ln/>
        </p:spPr>
        <p:txBody>
          <a:bodyPr wrap="square" rtlCol="0" anchor="ctr"/>
          <a:lstStyle/>
          <a:p>
            <a:pPr indent="0" marL="0">
              <a:buNone/>
            </a:pPr>
            <a:r>
              <a:rPr lang="en-US" sz="1650" b="1" dirty="0">
                <a:solidFill>
                  <a:srgbClr val="E8B64C"/>
                </a:solidFill>
                <a:latin typeface="Segoe UI" pitchFamily="34" charset="0"/>
                <a:ea typeface="Segoe UI" pitchFamily="34" charset="-122"/>
                <a:cs typeface="Segoe UI" pitchFamily="34" charset="-120"/>
              </a:rPr>
              <a:t>④ Mọi màn đều giải được — có kiểm chứng</a:t>
            </a:r>
            <a:endParaRPr lang="en-US" sz="1650" dirty="0"/>
          </a:p>
        </p:txBody>
      </p:sp>
      <p:sp>
        <p:nvSpPr>
          <p:cNvPr id="16" name="Text 14"/>
          <p:cNvSpPr/>
          <p:nvPr/>
        </p:nvSpPr>
        <p:spPr>
          <a:xfrm>
            <a:off x="6507328" y="4782312"/>
            <a:ext cx="4632808" cy="1005840"/>
          </a:xfrm>
          <a:prstGeom prst="rect">
            <a:avLst/>
          </a:prstGeom>
          <a:noFill/>
          <a:ln/>
        </p:spPr>
        <p:txBody>
          <a:bodyPr wrap="square" rtlCol="0" anchor="ctr"/>
          <a:lstStyle/>
          <a:p>
            <a:pPr indent="0" marL="0">
              <a:lnSpc>
                <a:spcPct val="130000"/>
              </a:lnSpc>
              <a:buNone/>
            </a:pPr>
            <a:r>
              <a:rPr lang="en-US" sz="1300" dirty="0">
                <a:solidFill>
                  <a:srgbClr val="F6ECD8"/>
                </a:solidFill>
                <a:latin typeface="Segoe UI" pitchFamily="34" charset="0"/>
                <a:ea typeface="Segoe UI" pitchFamily="34" charset="-122"/>
                <a:cs typeface="Segoe UI" pitchFamily="34" charset="-120"/>
              </a:rPr>
              <a:t>Mỗi màn trong 50 màn có 1 solution tự-verify bằng self-test, chạy lại mỗi lần mở game.</a:t>
            </a:r>
            <a:endParaRPr lang="en-US" sz="1300" dirty="0"/>
          </a:p>
        </p:txBody>
      </p:sp>
      <p:sp>
        <p:nvSpPr>
          <p:cNvPr id="17" name="Text 15"/>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18" name="Text 16"/>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01 · Ý TƯỞNG CỐT LÕI</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Một câu hỏi, mỗi lượt đặt khối</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sp>
        <p:nvSpPr>
          <p:cNvPr id="5" name="Shape 3"/>
          <p:cNvSpPr/>
          <p:nvPr/>
        </p:nvSpPr>
        <p:spPr>
          <a:xfrm>
            <a:off x="822960" y="1874520"/>
            <a:ext cx="10545775" cy="1920240"/>
          </a:xfrm>
          <a:prstGeom prst="roundRect">
            <a:avLst>
              <a:gd name="adj" fmla="val 2857"/>
            </a:avLst>
          </a:prstGeom>
          <a:solidFill>
            <a:srgbClr val="241A10">
              <a:alpha val="75000"/>
            </a:srgbClr>
          </a:solidFill>
          <a:ln w="9525">
            <a:solidFill>
              <a:srgbClr val="E8B64C">
                <a:alpha val="55000"/>
              </a:srgbClr>
            </a:solidFill>
            <a:prstDash val="solid"/>
          </a:ln>
        </p:spPr>
      </p:sp>
      <p:sp>
        <p:nvSpPr>
          <p:cNvPr id="6" name="Text 4"/>
          <p:cNvSpPr/>
          <p:nvPr/>
        </p:nvSpPr>
        <p:spPr>
          <a:xfrm>
            <a:off x="1188720" y="2057400"/>
            <a:ext cx="9814255" cy="822960"/>
          </a:xfrm>
          <a:prstGeom prst="rect">
            <a:avLst/>
          </a:prstGeom>
          <a:noFill/>
          <a:ln/>
        </p:spPr>
        <p:txBody>
          <a:bodyPr wrap="square" rtlCol="0" anchor="ctr"/>
          <a:lstStyle/>
          <a:p>
            <a:pPr algn="l" indent="0" marL="0">
              <a:buNone/>
            </a:pPr>
            <a:r>
              <a:rPr lang="en-US" sz="2700" i="1" dirty="0">
                <a:solidFill>
                  <a:srgbClr val="E8B64C"/>
                </a:solidFill>
                <a:latin typeface="Georgia" pitchFamily="34" charset="0"/>
                <a:ea typeface="Georgia" pitchFamily="34" charset="-122"/>
                <a:cs typeface="Georgia" pitchFamily="34" charset="-120"/>
              </a:rPr>
              <a:t>“Mình che quân này lại — hay để nó lộ ra ngay?”</a:t>
            </a:r>
            <a:endParaRPr lang="en-US" sz="2700" dirty="0"/>
          </a:p>
        </p:txBody>
      </p:sp>
      <p:sp>
        <p:nvSpPr>
          <p:cNvPr id="7" name="Text 5"/>
          <p:cNvSpPr/>
          <p:nvPr/>
        </p:nvSpPr>
        <p:spPr>
          <a:xfrm>
            <a:off x="1188720" y="2788920"/>
            <a:ext cx="9814255" cy="914400"/>
          </a:xfrm>
          <a:prstGeom prst="rect">
            <a:avLst/>
          </a:prstGeom>
          <a:noFill/>
          <a:ln/>
        </p:spPr>
        <p:txBody>
          <a:bodyPr wrap="square" rtlCol="0" anchor="ctr"/>
          <a:lstStyle/>
          <a:p>
            <a:pPr indent="0" marL="0">
              <a:lnSpc>
                <a:spcPct val="125000"/>
              </a:lnSpc>
              <a:buNone/>
            </a:pPr>
            <a:r>
              <a:rPr lang="en-US" sz="1450" dirty="0">
                <a:solidFill>
                  <a:srgbClr val="F6ECD8"/>
                </a:solidFill>
                <a:latin typeface="Segoe UI" pitchFamily="34" charset="0"/>
                <a:ea typeface="Segoe UI" pitchFamily="34" charset="-122"/>
                <a:cs typeface="Segoe UI" pitchFamily="34" charset="-120"/>
              </a:rPr>
              <a:t>Người chơi kéo một khối nhiều-ô (polyomino) xuống bàn 2 tầng — mỗi ô tự rơi vào tầng thấp nhất còn trống. Hai quân cùng mặt, cùng tầng, liền kề và đang lộ mặt sẽ Match và biến mất, kéo theo quân phía trên rơi xuống (cascade).</a:t>
            </a:r>
            <a:endParaRPr lang="en-US" sz="1450" dirty="0"/>
          </a:p>
        </p:txBody>
      </p:sp>
      <p:sp>
        <p:nvSpPr>
          <p:cNvPr id="8" name="Text 6"/>
          <p:cNvSpPr/>
          <p:nvPr/>
        </p:nvSpPr>
        <p:spPr>
          <a:xfrm>
            <a:off x="822960" y="4069080"/>
            <a:ext cx="10545775" cy="1005840"/>
          </a:xfrm>
          <a:prstGeom prst="rect">
            <a:avLst/>
          </a:prstGeom>
          <a:noFill/>
          <a:ln/>
        </p:spPr>
        <p:txBody>
          <a:bodyPr wrap="square" rtlCol="0" anchor="ctr"/>
          <a:lstStyle/>
          <a:p>
            <a:pPr indent="0" marL="0">
              <a:lnSpc>
                <a:spcPct val="130000"/>
              </a:lnSpc>
              <a:buNone/>
            </a:pPr>
            <a:r>
              <a:rPr lang="en-US" sz="1500" dirty="0">
                <a:solidFill>
                  <a:srgbClr val="C9BAA0"/>
                </a:solidFill>
                <a:latin typeface="Segoe UI" pitchFamily="34" charset="0"/>
                <a:ea typeface="Segoe UI" pitchFamily="34" charset="-122"/>
                <a:cs typeface="Segoe UI" pitchFamily="34" charset="-120"/>
              </a:rPr>
              <a:t>Vì tầng mái do chính người chơi chủ động chồng lên, việc che một quân để "khoá" nó rồi tự tay lộ lại đúng lúc trở thành một quyết định chiến thuật thật — không phải may rủi.</a:t>
            </a:r>
            <a:endParaRPr lang="en-US" sz="1500" dirty="0"/>
          </a:p>
        </p:txBody>
      </p:sp>
      <p:sp>
        <p:nvSpPr>
          <p:cNvPr id="9" name="Text 7"/>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10" name="Text 8"/>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05</a:t>
            </a:r>
            <a:endParaRPr lang="en-US" sz="1000" dirty="0"/>
          </a:p>
        </p:txBody>
      </p:sp>
      <p:sp>
        <p:nvSpPr>
          <p:cNvPr id="11" name="Text 9"/>
          <p:cNvSpPr/>
          <p:nvPr/>
        </p:nvSpPr>
        <p:spPr>
          <a:xfrm>
            <a:off x="3657600" y="6400800"/>
            <a:ext cx="4876495" cy="320040"/>
          </a:xfrm>
          <a:prstGeom prst="rect">
            <a:avLst/>
          </a:prstGeom>
          <a:noFill/>
          <a:ln/>
        </p:spPr>
        <p:txBody>
          <a:bodyPr wrap="square" rtlCol="0" anchor="ctr"/>
          <a:lstStyle/>
          <a:p>
            <a:pPr algn="ctr" indent="0" marL="0">
              <a:buNone/>
            </a:pPr>
            <a:r>
              <a:rPr lang="en-US" sz="1000" spc="100" kern="0" dirty="0">
                <a:solidFill>
                  <a:srgbClr val="C9BAA0"/>
                </a:solidFill>
                <a:latin typeface="Segoe UI" pitchFamily="34" charset="0"/>
                <a:ea typeface="Segoe UI" pitchFamily="34" charset="-122"/>
                <a:cs typeface="Segoe UI" pitchFamily="34" charset="-120"/>
              </a:rPr>
              <a:t>ELEVATOR PITCH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01 · Ý TƯỞNG CỐT LÕI</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Vì sao là hybrid, không phải 1 trong 2</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sp>
        <p:nvSpPr>
          <p:cNvPr id="5" name="Shape 3"/>
          <p:cNvSpPr/>
          <p:nvPr/>
        </p:nvSpPr>
        <p:spPr>
          <a:xfrm>
            <a:off x="822960" y="1965960"/>
            <a:ext cx="3332378" cy="3291840"/>
          </a:xfrm>
          <a:prstGeom prst="roundRect">
            <a:avLst>
              <a:gd name="adj" fmla="val 1667"/>
            </a:avLst>
          </a:prstGeom>
          <a:solidFill>
            <a:srgbClr val="241A10">
              <a:alpha val="75000"/>
            </a:srgbClr>
          </a:solidFill>
          <a:ln w="9525">
            <a:solidFill>
              <a:srgbClr val="E8B64C">
                <a:alpha val="55000"/>
              </a:srgbClr>
            </a:solidFill>
            <a:prstDash val="solid"/>
          </a:ln>
        </p:spPr>
      </p:sp>
      <p:sp>
        <p:nvSpPr>
          <p:cNvPr id="6" name="Text 4"/>
          <p:cNvSpPr/>
          <p:nvPr/>
        </p:nvSpPr>
        <p:spPr>
          <a:xfrm>
            <a:off x="1051560" y="2194560"/>
            <a:ext cx="2875178" cy="640080"/>
          </a:xfrm>
          <a:prstGeom prst="rect">
            <a:avLst/>
          </a:prstGeom>
          <a:noFill/>
          <a:ln/>
        </p:spPr>
        <p:txBody>
          <a:bodyPr wrap="square" rtlCol="0" anchor="ctr"/>
          <a:lstStyle/>
          <a:p>
            <a:pPr indent="0" marL="0">
              <a:buNone/>
            </a:pPr>
            <a:r>
              <a:rPr lang="en-US" sz="1500" b="1" spc="100" kern="0" dirty="0">
                <a:solidFill>
                  <a:srgbClr val="C9BAA0"/>
                </a:solidFill>
                <a:latin typeface="Segoe UI" pitchFamily="34" charset="0"/>
                <a:ea typeface="Segoe UI" pitchFamily="34" charset="-122"/>
                <a:cs typeface="Segoe UI" pitchFamily="34" charset="-120"/>
              </a:rPr>
              <a:t>MAHJONG SOLITAIRE</a:t>
            </a:r>
            <a:endParaRPr lang="en-US" sz="1500" dirty="0"/>
          </a:p>
        </p:txBody>
      </p:sp>
      <p:sp>
        <p:nvSpPr>
          <p:cNvPr id="7" name="Text 5"/>
          <p:cNvSpPr/>
          <p:nvPr/>
        </p:nvSpPr>
        <p:spPr>
          <a:xfrm>
            <a:off x="1051560" y="2880360"/>
            <a:ext cx="2875178" cy="2194560"/>
          </a:xfrm>
          <a:prstGeom prst="rect">
            <a:avLst/>
          </a:prstGeom>
          <a:noFill/>
          <a:ln/>
        </p:spPr>
        <p:txBody>
          <a:bodyPr wrap="square" rtlCol="0" anchor="ctr"/>
          <a:lstStyle/>
          <a:p>
            <a:pPr indent="0" marL="0">
              <a:lnSpc>
                <a:spcPct val="130000"/>
              </a:lnSpc>
              <a:buNone/>
            </a:pPr>
            <a:r>
              <a:rPr lang="en-US" sz="1400" dirty="0">
                <a:solidFill>
                  <a:srgbClr val="F6ECD8"/>
                </a:solidFill>
                <a:latin typeface="Segoe UI" pitchFamily="34" charset="0"/>
                <a:ea typeface="Segoe UI" pitchFamily="34" charset="-122"/>
                <a:cs typeface="Segoe UI" pitchFamily="34" charset="-120"/>
              </a:rPr>
              <a:t>Chọn từng quân một — không bao giờ phải quyết định "đóng cả hàng" cùng lúc.</a:t>
            </a:r>
            <a:endParaRPr lang="en-US" sz="1400" dirty="0"/>
          </a:p>
        </p:txBody>
      </p:sp>
      <p:sp>
        <p:nvSpPr>
          <p:cNvPr id="8" name="Shape 6"/>
          <p:cNvSpPr/>
          <p:nvPr/>
        </p:nvSpPr>
        <p:spPr>
          <a:xfrm>
            <a:off x="4429658" y="1965960"/>
            <a:ext cx="3332378" cy="3291840"/>
          </a:xfrm>
          <a:prstGeom prst="roundRect">
            <a:avLst>
              <a:gd name="adj" fmla="val 1667"/>
            </a:avLst>
          </a:prstGeom>
          <a:solidFill>
            <a:srgbClr val="241A10">
              <a:alpha val="75000"/>
            </a:srgbClr>
          </a:solidFill>
          <a:ln w="9525">
            <a:solidFill>
              <a:srgbClr val="E8B64C">
                <a:alpha val="55000"/>
              </a:srgbClr>
            </a:solidFill>
            <a:prstDash val="solid"/>
          </a:ln>
        </p:spPr>
      </p:sp>
      <p:sp>
        <p:nvSpPr>
          <p:cNvPr id="9" name="Text 7"/>
          <p:cNvSpPr/>
          <p:nvPr/>
        </p:nvSpPr>
        <p:spPr>
          <a:xfrm>
            <a:off x="4658258" y="2194560"/>
            <a:ext cx="2875178" cy="640080"/>
          </a:xfrm>
          <a:prstGeom prst="rect">
            <a:avLst/>
          </a:prstGeom>
          <a:noFill/>
          <a:ln/>
        </p:spPr>
        <p:txBody>
          <a:bodyPr wrap="square" rtlCol="0" anchor="ctr"/>
          <a:lstStyle/>
          <a:p>
            <a:pPr indent="0" marL="0">
              <a:buNone/>
            </a:pPr>
            <a:r>
              <a:rPr lang="en-US" sz="1500" b="1" spc="100" kern="0" dirty="0">
                <a:solidFill>
                  <a:srgbClr val="C9BAA0"/>
                </a:solidFill>
                <a:latin typeface="Segoe UI" pitchFamily="34" charset="0"/>
                <a:ea typeface="Segoe UI" pitchFamily="34" charset="-122"/>
                <a:cs typeface="Segoe UI" pitchFamily="34" charset="-120"/>
              </a:rPr>
              <a:t>BLOCK BLAST</a:t>
            </a:r>
            <a:endParaRPr lang="en-US" sz="1500" dirty="0"/>
          </a:p>
        </p:txBody>
      </p:sp>
      <p:sp>
        <p:nvSpPr>
          <p:cNvPr id="10" name="Text 8"/>
          <p:cNvSpPr/>
          <p:nvPr/>
        </p:nvSpPr>
        <p:spPr>
          <a:xfrm>
            <a:off x="4658258" y="2880360"/>
            <a:ext cx="2875178" cy="2194560"/>
          </a:xfrm>
          <a:prstGeom prst="rect">
            <a:avLst/>
          </a:prstGeom>
          <a:noFill/>
          <a:ln/>
        </p:spPr>
        <p:txBody>
          <a:bodyPr wrap="square" rtlCol="0" anchor="ctr"/>
          <a:lstStyle/>
          <a:p>
            <a:pPr indent="0" marL="0">
              <a:lnSpc>
                <a:spcPct val="130000"/>
              </a:lnSpc>
              <a:buNone/>
            </a:pPr>
            <a:r>
              <a:rPr lang="en-US" sz="1400" dirty="0">
                <a:solidFill>
                  <a:srgbClr val="F6ECD8"/>
                </a:solidFill>
                <a:latin typeface="Segoe UI" pitchFamily="34" charset="0"/>
                <a:ea typeface="Segoe UI" pitchFamily="34" charset="-122"/>
                <a:cs typeface="Segoe UI" pitchFamily="34" charset="-120"/>
              </a:rPr>
              <a:t>Xoá hàng luôn luôn tốt — không có lý do gì để ngần ngại đặt khối.</a:t>
            </a:r>
            <a:endParaRPr lang="en-US" sz="1400" dirty="0"/>
          </a:p>
        </p:txBody>
      </p:sp>
      <p:sp>
        <p:nvSpPr>
          <p:cNvPr id="11" name="Shape 9"/>
          <p:cNvSpPr/>
          <p:nvPr/>
        </p:nvSpPr>
        <p:spPr>
          <a:xfrm>
            <a:off x="8036357" y="1965960"/>
            <a:ext cx="3332378" cy="3291840"/>
          </a:xfrm>
          <a:prstGeom prst="roundRect">
            <a:avLst>
              <a:gd name="adj" fmla="val 1667"/>
            </a:avLst>
          </a:prstGeom>
          <a:solidFill>
            <a:srgbClr val="3A2A16">
              <a:alpha val="90000"/>
            </a:srgbClr>
          </a:solidFill>
          <a:ln w="9525">
            <a:solidFill>
              <a:srgbClr val="E8B64C">
                <a:alpha val="55000"/>
              </a:srgbClr>
            </a:solidFill>
            <a:prstDash val="solid"/>
          </a:ln>
        </p:spPr>
      </p:sp>
      <p:sp>
        <p:nvSpPr>
          <p:cNvPr id="12" name="Text 10"/>
          <p:cNvSpPr/>
          <p:nvPr/>
        </p:nvSpPr>
        <p:spPr>
          <a:xfrm>
            <a:off x="8264957" y="2194560"/>
            <a:ext cx="2875178" cy="640080"/>
          </a:xfrm>
          <a:prstGeom prst="rect">
            <a:avLst/>
          </a:prstGeom>
          <a:noFill/>
          <a:ln/>
        </p:spPr>
        <p:txBody>
          <a:bodyPr wrap="square" rtlCol="0" anchor="ctr"/>
          <a:lstStyle/>
          <a:p>
            <a:pPr indent="0" marL="0">
              <a:buNone/>
            </a:pPr>
            <a:r>
              <a:rPr lang="en-US" sz="1500" b="1" spc="100" kern="0" dirty="0">
                <a:solidFill>
                  <a:srgbClr val="E8B64C"/>
                </a:solidFill>
                <a:latin typeface="Segoe UI" pitchFamily="34" charset="0"/>
                <a:ea typeface="Segoe UI" pitchFamily="34" charset="-122"/>
                <a:cs typeface="Segoe UI" pitchFamily="34" charset="-120"/>
              </a:rPr>
              <a:t>MAHJONG × BLOCK</a:t>
            </a:r>
            <a:endParaRPr lang="en-US" sz="1500" dirty="0"/>
          </a:p>
        </p:txBody>
      </p:sp>
      <p:sp>
        <p:nvSpPr>
          <p:cNvPr id="13" name="Text 11"/>
          <p:cNvSpPr/>
          <p:nvPr/>
        </p:nvSpPr>
        <p:spPr>
          <a:xfrm>
            <a:off x="8264957" y="2880360"/>
            <a:ext cx="2875178" cy="2194560"/>
          </a:xfrm>
          <a:prstGeom prst="rect">
            <a:avLst/>
          </a:prstGeom>
          <a:noFill/>
          <a:ln/>
        </p:spPr>
        <p:txBody>
          <a:bodyPr wrap="square" rtlCol="0" anchor="ctr"/>
          <a:lstStyle/>
          <a:p>
            <a:pPr indent="0" marL="0">
              <a:lnSpc>
                <a:spcPct val="130000"/>
              </a:lnSpc>
              <a:buNone/>
            </a:pPr>
            <a:r>
              <a:rPr lang="en-US" sz="1400" dirty="0">
                <a:solidFill>
                  <a:srgbClr val="F6ECD8"/>
                </a:solidFill>
                <a:latin typeface="Segoe UI" pitchFamily="34" charset="0"/>
                <a:ea typeface="Segoe UI" pitchFamily="34" charset="-122"/>
                <a:cs typeface="Segoe UI" pitchFamily="34" charset="-120"/>
              </a:rPr>
              <a:t>Che quân để khoá, tự tay lộ lại đúng lúc — quyết định thật nằm ở CHÍNH thao tác đặt khối.</a:t>
            </a:r>
            <a:endParaRPr lang="en-US" sz="1400" dirty="0"/>
          </a:p>
        </p:txBody>
      </p:sp>
      <p:sp>
        <p:nvSpPr>
          <p:cNvPr id="14" name="Text 12"/>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15" name="Text 13"/>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02 · CƠ CHẾ &amp; VÒNG LẶP</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Vòng lặp một lượt chơi</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sp>
        <p:nvSpPr>
          <p:cNvPr id="5" name="Shape 3"/>
          <p:cNvSpPr/>
          <p:nvPr/>
        </p:nvSpPr>
        <p:spPr>
          <a:xfrm>
            <a:off x="822960" y="2651760"/>
            <a:ext cx="1874520" cy="1371600"/>
          </a:xfrm>
          <a:prstGeom prst="roundRect">
            <a:avLst>
              <a:gd name="adj" fmla="val 4000"/>
            </a:avLst>
          </a:prstGeom>
          <a:solidFill>
            <a:srgbClr val="241A10">
              <a:alpha val="90000"/>
            </a:srgbClr>
          </a:solidFill>
          <a:ln w="9525">
            <a:solidFill>
              <a:srgbClr val="E8B64C">
                <a:alpha val="55000"/>
              </a:srgbClr>
            </a:solidFill>
            <a:prstDash val="solid"/>
          </a:ln>
        </p:spPr>
      </p:sp>
      <p:sp>
        <p:nvSpPr>
          <p:cNvPr id="6" name="Text 4"/>
          <p:cNvSpPr/>
          <p:nvPr/>
        </p:nvSpPr>
        <p:spPr>
          <a:xfrm>
            <a:off x="914400" y="2788920"/>
            <a:ext cx="1691640" cy="1097280"/>
          </a:xfrm>
          <a:prstGeom prst="rect">
            <a:avLst/>
          </a:prstGeom>
          <a:noFill/>
          <a:ln/>
        </p:spPr>
        <p:txBody>
          <a:bodyPr wrap="square" rtlCol="0" anchor="ctr"/>
          <a:lstStyle/>
          <a:p>
            <a:pPr algn="ctr" indent="0" marL="0">
              <a:lnSpc>
                <a:spcPct val="120000"/>
              </a:lnSpc>
              <a:buNone/>
            </a:pPr>
            <a:r>
              <a:rPr lang="en-US" sz="1400" dirty="0">
                <a:solidFill>
                  <a:srgbClr val="F6ECD8"/>
                </a:solidFill>
                <a:latin typeface="Segoe UI" pitchFamily="34" charset="0"/>
                <a:ea typeface="Segoe UI" pitchFamily="34" charset="-122"/>
                <a:cs typeface="Segoe UI" pitchFamily="34" charset="-120"/>
              </a:rPr>
              <a:t>Kéo khối</a:t>
            </a:r>
            <a:endParaRPr lang="en-US" sz="1400" dirty="0"/>
          </a:p>
          <a:p>
            <a:pPr algn="ctr" indent="0" marL="0">
              <a:lnSpc>
                <a:spcPct val="120000"/>
              </a:lnSpc>
              <a:buNone/>
            </a:pPr>
            <a:r>
              <a:rPr lang="en-US" sz="1400" dirty="0">
                <a:solidFill>
                  <a:srgbClr val="F6ECD8"/>
                </a:solidFill>
                <a:latin typeface="Segoe UI" pitchFamily="34" charset="0"/>
                <a:ea typeface="Segoe UI" pitchFamily="34" charset="-122"/>
                <a:cs typeface="Segoe UI" pitchFamily="34" charset="-120"/>
              </a:rPr>
              <a:t>vào bàn</a:t>
            </a:r>
            <a:endParaRPr lang="en-US" sz="1400" dirty="0"/>
          </a:p>
        </p:txBody>
      </p:sp>
      <p:sp>
        <p:nvSpPr>
          <p:cNvPr id="7" name="Text 5"/>
          <p:cNvSpPr/>
          <p:nvPr/>
        </p:nvSpPr>
        <p:spPr>
          <a:xfrm>
            <a:off x="2697480" y="3063240"/>
            <a:ext cx="293294" cy="548640"/>
          </a:xfrm>
          <a:prstGeom prst="rect">
            <a:avLst/>
          </a:prstGeom>
          <a:noFill/>
          <a:ln/>
        </p:spPr>
        <p:txBody>
          <a:bodyPr wrap="square" rtlCol="0" anchor="ctr"/>
          <a:lstStyle/>
          <a:p>
            <a:pPr algn="ctr" indent="0" marL="0">
              <a:buNone/>
            </a:pPr>
            <a:r>
              <a:rPr lang="en-US" sz="2200" dirty="0">
                <a:solidFill>
                  <a:srgbClr val="E8B64C"/>
                </a:solidFill>
                <a:latin typeface="Georgia" pitchFamily="34" charset="0"/>
                <a:ea typeface="Georgia" pitchFamily="34" charset="-122"/>
                <a:cs typeface="Georgia" pitchFamily="34" charset="-120"/>
              </a:rPr>
              <a:t>→</a:t>
            </a:r>
            <a:endParaRPr lang="en-US" sz="2200" dirty="0"/>
          </a:p>
        </p:txBody>
      </p:sp>
      <p:sp>
        <p:nvSpPr>
          <p:cNvPr id="8" name="Shape 6"/>
          <p:cNvSpPr/>
          <p:nvPr/>
        </p:nvSpPr>
        <p:spPr>
          <a:xfrm>
            <a:off x="2990774" y="2651760"/>
            <a:ext cx="1874520" cy="1371600"/>
          </a:xfrm>
          <a:prstGeom prst="roundRect">
            <a:avLst>
              <a:gd name="adj" fmla="val 4000"/>
            </a:avLst>
          </a:prstGeom>
          <a:solidFill>
            <a:srgbClr val="241A10">
              <a:alpha val="90000"/>
            </a:srgbClr>
          </a:solidFill>
          <a:ln w="9525">
            <a:solidFill>
              <a:srgbClr val="E8B64C">
                <a:alpha val="55000"/>
              </a:srgbClr>
            </a:solidFill>
            <a:prstDash val="solid"/>
          </a:ln>
        </p:spPr>
      </p:sp>
      <p:sp>
        <p:nvSpPr>
          <p:cNvPr id="9" name="Text 7"/>
          <p:cNvSpPr/>
          <p:nvPr/>
        </p:nvSpPr>
        <p:spPr>
          <a:xfrm>
            <a:off x="3082214" y="2788920"/>
            <a:ext cx="1691640" cy="1097280"/>
          </a:xfrm>
          <a:prstGeom prst="rect">
            <a:avLst/>
          </a:prstGeom>
          <a:noFill/>
          <a:ln/>
        </p:spPr>
        <p:txBody>
          <a:bodyPr wrap="square" rtlCol="0" anchor="ctr"/>
          <a:lstStyle/>
          <a:p>
            <a:pPr algn="ctr" indent="0" marL="0">
              <a:lnSpc>
                <a:spcPct val="120000"/>
              </a:lnSpc>
              <a:buNone/>
            </a:pPr>
            <a:r>
              <a:rPr lang="en-US" sz="1400" dirty="0">
                <a:solidFill>
                  <a:srgbClr val="F6ECD8"/>
                </a:solidFill>
                <a:latin typeface="Segoe UI" pitchFamily="34" charset="0"/>
                <a:ea typeface="Segoe UI" pitchFamily="34" charset="-122"/>
                <a:cs typeface="Segoe UI" pitchFamily="34" charset="-120"/>
              </a:rPr>
              <a:t>Mỗi ô rơi</a:t>
            </a:r>
            <a:endParaRPr lang="en-US" sz="1400" dirty="0"/>
          </a:p>
          <a:p>
            <a:pPr algn="ctr" indent="0" marL="0">
              <a:lnSpc>
                <a:spcPct val="120000"/>
              </a:lnSpc>
              <a:buNone/>
            </a:pPr>
            <a:r>
              <a:rPr lang="en-US" sz="1400" dirty="0">
                <a:solidFill>
                  <a:srgbClr val="F6ECD8"/>
                </a:solidFill>
                <a:latin typeface="Segoe UI" pitchFamily="34" charset="0"/>
                <a:ea typeface="Segoe UI" pitchFamily="34" charset="-122"/>
                <a:cs typeface="Segoe UI" pitchFamily="34" charset="-120"/>
              </a:rPr>
              <a:t>tầng thấp nhất</a:t>
            </a:r>
            <a:endParaRPr lang="en-US" sz="1400" dirty="0"/>
          </a:p>
        </p:txBody>
      </p:sp>
      <p:sp>
        <p:nvSpPr>
          <p:cNvPr id="10" name="Text 8"/>
          <p:cNvSpPr/>
          <p:nvPr/>
        </p:nvSpPr>
        <p:spPr>
          <a:xfrm>
            <a:off x="4865294" y="3063240"/>
            <a:ext cx="293294" cy="548640"/>
          </a:xfrm>
          <a:prstGeom prst="rect">
            <a:avLst/>
          </a:prstGeom>
          <a:noFill/>
          <a:ln/>
        </p:spPr>
        <p:txBody>
          <a:bodyPr wrap="square" rtlCol="0" anchor="ctr"/>
          <a:lstStyle/>
          <a:p>
            <a:pPr algn="ctr" indent="0" marL="0">
              <a:buNone/>
            </a:pPr>
            <a:r>
              <a:rPr lang="en-US" sz="2200" dirty="0">
                <a:solidFill>
                  <a:srgbClr val="E8B64C"/>
                </a:solidFill>
                <a:latin typeface="Georgia" pitchFamily="34" charset="0"/>
                <a:ea typeface="Georgia" pitchFamily="34" charset="-122"/>
                <a:cs typeface="Georgia" pitchFamily="34" charset="-120"/>
              </a:rPr>
              <a:t>→</a:t>
            </a:r>
            <a:endParaRPr lang="en-US" sz="2200" dirty="0"/>
          </a:p>
        </p:txBody>
      </p:sp>
      <p:sp>
        <p:nvSpPr>
          <p:cNvPr id="11" name="Shape 9"/>
          <p:cNvSpPr/>
          <p:nvPr/>
        </p:nvSpPr>
        <p:spPr>
          <a:xfrm>
            <a:off x="5158588" y="2651760"/>
            <a:ext cx="1874520" cy="1371600"/>
          </a:xfrm>
          <a:prstGeom prst="roundRect">
            <a:avLst>
              <a:gd name="adj" fmla="val 4000"/>
            </a:avLst>
          </a:prstGeom>
          <a:solidFill>
            <a:srgbClr val="241A10">
              <a:alpha val="90000"/>
            </a:srgbClr>
          </a:solidFill>
          <a:ln w="9525">
            <a:solidFill>
              <a:srgbClr val="E8B64C">
                <a:alpha val="55000"/>
              </a:srgbClr>
            </a:solidFill>
            <a:prstDash val="solid"/>
          </a:ln>
        </p:spPr>
      </p:sp>
      <p:sp>
        <p:nvSpPr>
          <p:cNvPr id="12" name="Text 10"/>
          <p:cNvSpPr/>
          <p:nvPr/>
        </p:nvSpPr>
        <p:spPr>
          <a:xfrm>
            <a:off x="5250028" y="2788920"/>
            <a:ext cx="1691640" cy="1097280"/>
          </a:xfrm>
          <a:prstGeom prst="rect">
            <a:avLst/>
          </a:prstGeom>
          <a:noFill/>
          <a:ln/>
        </p:spPr>
        <p:txBody>
          <a:bodyPr wrap="square" rtlCol="0" anchor="ctr"/>
          <a:lstStyle/>
          <a:p>
            <a:pPr algn="ctr" indent="0" marL="0">
              <a:lnSpc>
                <a:spcPct val="120000"/>
              </a:lnSpc>
              <a:buNone/>
            </a:pPr>
            <a:r>
              <a:rPr lang="en-US" sz="1400" dirty="0">
                <a:solidFill>
                  <a:srgbClr val="F6ECD8"/>
                </a:solidFill>
                <a:latin typeface="Segoe UI" pitchFamily="34" charset="0"/>
                <a:ea typeface="Segoe UI" pitchFamily="34" charset="-122"/>
                <a:cs typeface="Segoe UI" pitchFamily="34" charset="-120"/>
              </a:rPr>
              <a:t>Che quân</a:t>
            </a:r>
            <a:endParaRPr lang="en-US" sz="1400" dirty="0"/>
          </a:p>
          <a:p>
            <a:pPr algn="ctr" indent="0" marL="0">
              <a:lnSpc>
                <a:spcPct val="120000"/>
              </a:lnSpc>
              <a:buNone/>
            </a:pPr>
            <a:r>
              <a:rPr lang="en-US" sz="1400" dirty="0">
                <a:solidFill>
                  <a:srgbClr val="F6ECD8"/>
                </a:solidFill>
                <a:latin typeface="Segoe UI" pitchFamily="34" charset="0"/>
                <a:ea typeface="Segoe UI" pitchFamily="34" charset="-122"/>
                <a:cs typeface="Segoe UI" pitchFamily="34" charset="-120"/>
              </a:rPr>
              <a:t>hoặc để lộ</a:t>
            </a:r>
            <a:endParaRPr lang="en-US" sz="1400" dirty="0"/>
          </a:p>
        </p:txBody>
      </p:sp>
      <p:sp>
        <p:nvSpPr>
          <p:cNvPr id="13" name="Text 11"/>
          <p:cNvSpPr/>
          <p:nvPr/>
        </p:nvSpPr>
        <p:spPr>
          <a:xfrm>
            <a:off x="7033108" y="3063240"/>
            <a:ext cx="293294" cy="548640"/>
          </a:xfrm>
          <a:prstGeom prst="rect">
            <a:avLst/>
          </a:prstGeom>
          <a:noFill/>
          <a:ln/>
        </p:spPr>
        <p:txBody>
          <a:bodyPr wrap="square" rtlCol="0" anchor="ctr"/>
          <a:lstStyle/>
          <a:p>
            <a:pPr algn="ctr" indent="0" marL="0">
              <a:buNone/>
            </a:pPr>
            <a:r>
              <a:rPr lang="en-US" sz="2200" dirty="0">
                <a:solidFill>
                  <a:srgbClr val="E8B64C"/>
                </a:solidFill>
                <a:latin typeface="Georgia" pitchFamily="34" charset="0"/>
                <a:ea typeface="Georgia" pitchFamily="34" charset="-122"/>
                <a:cs typeface="Georgia" pitchFamily="34" charset="-120"/>
              </a:rPr>
              <a:t>→</a:t>
            </a:r>
            <a:endParaRPr lang="en-US" sz="2200" dirty="0"/>
          </a:p>
        </p:txBody>
      </p:sp>
      <p:sp>
        <p:nvSpPr>
          <p:cNvPr id="14" name="Shape 12"/>
          <p:cNvSpPr/>
          <p:nvPr/>
        </p:nvSpPr>
        <p:spPr>
          <a:xfrm>
            <a:off x="7326401" y="2651760"/>
            <a:ext cx="1874520" cy="1371600"/>
          </a:xfrm>
          <a:prstGeom prst="roundRect">
            <a:avLst>
              <a:gd name="adj" fmla="val 4000"/>
            </a:avLst>
          </a:prstGeom>
          <a:solidFill>
            <a:srgbClr val="241A10">
              <a:alpha val="90000"/>
            </a:srgbClr>
          </a:solidFill>
          <a:ln w="9525">
            <a:solidFill>
              <a:srgbClr val="E8B64C">
                <a:alpha val="55000"/>
              </a:srgbClr>
            </a:solidFill>
            <a:prstDash val="solid"/>
          </a:ln>
        </p:spPr>
      </p:sp>
      <p:sp>
        <p:nvSpPr>
          <p:cNvPr id="15" name="Text 13"/>
          <p:cNvSpPr/>
          <p:nvPr/>
        </p:nvSpPr>
        <p:spPr>
          <a:xfrm>
            <a:off x="7417841" y="2788920"/>
            <a:ext cx="1691640" cy="1097280"/>
          </a:xfrm>
          <a:prstGeom prst="rect">
            <a:avLst/>
          </a:prstGeom>
          <a:noFill/>
          <a:ln/>
        </p:spPr>
        <p:txBody>
          <a:bodyPr wrap="square" rtlCol="0" anchor="ctr"/>
          <a:lstStyle/>
          <a:p>
            <a:pPr algn="ctr" indent="0" marL="0">
              <a:lnSpc>
                <a:spcPct val="120000"/>
              </a:lnSpc>
              <a:buNone/>
            </a:pPr>
            <a:r>
              <a:rPr lang="en-US" sz="1400" dirty="0">
                <a:solidFill>
                  <a:srgbClr val="F6ECD8"/>
                </a:solidFill>
                <a:latin typeface="Segoe UI" pitchFamily="34" charset="0"/>
                <a:ea typeface="Segoe UI" pitchFamily="34" charset="-122"/>
                <a:cs typeface="Segoe UI" pitchFamily="34" charset="-120"/>
              </a:rPr>
              <a:t>Match khi</a:t>
            </a:r>
            <a:endParaRPr lang="en-US" sz="1400" dirty="0"/>
          </a:p>
          <a:p>
            <a:pPr algn="ctr" indent="0" marL="0">
              <a:lnSpc>
                <a:spcPct val="120000"/>
              </a:lnSpc>
              <a:buNone/>
            </a:pPr>
            <a:r>
              <a:rPr lang="en-US" sz="1400" dirty="0">
                <a:solidFill>
                  <a:srgbClr val="F6ECD8"/>
                </a:solidFill>
                <a:latin typeface="Segoe UI" pitchFamily="34" charset="0"/>
                <a:ea typeface="Segoe UI" pitchFamily="34" charset="-122"/>
                <a:cs typeface="Segoe UI" pitchFamily="34" charset="-120"/>
              </a:rPr>
              <a:t>cùng mặt · lộ</a:t>
            </a:r>
            <a:endParaRPr lang="en-US" sz="1400" dirty="0"/>
          </a:p>
        </p:txBody>
      </p:sp>
      <p:sp>
        <p:nvSpPr>
          <p:cNvPr id="16" name="Text 14"/>
          <p:cNvSpPr/>
          <p:nvPr/>
        </p:nvSpPr>
        <p:spPr>
          <a:xfrm>
            <a:off x="9200921" y="3063240"/>
            <a:ext cx="293294" cy="548640"/>
          </a:xfrm>
          <a:prstGeom prst="rect">
            <a:avLst/>
          </a:prstGeom>
          <a:noFill/>
          <a:ln/>
        </p:spPr>
        <p:txBody>
          <a:bodyPr wrap="square" rtlCol="0" anchor="ctr"/>
          <a:lstStyle/>
          <a:p>
            <a:pPr algn="ctr" indent="0" marL="0">
              <a:buNone/>
            </a:pPr>
            <a:r>
              <a:rPr lang="en-US" sz="2200" dirty="0">
                <a:solidFill>
                  <a:srgbClr val="E8B64C"/>
                </a:solidFill>
                <a:latin typeface="Georgia" pitchFamily="34" charset="0"/>
                <a:ea typeface="Georgia" pitchFamily="34" charset="-122"/>
                <a:cs typeface="Georgia" pitchFamily="34" charset="-120"/>
              </a:rPr>
              <a:t>→</a:t>
            </a:r>
            <a:endParaRPr lang="en-US" sz="2200" dirty="0"/>
          </a:p>
        </p:txBody>
      </p:sp>
      <p:sp>
        <p:nvSpPr>
          <p:cNvPr id="17" name="Shape 15"/>
          <p:cNvSpPr/>
          <p:nvPr/>
        </p:nvSpPr>
        <p:spPr>
          <a:xfrm>
            <a:off x="9494215" y="2651760"/>
            <a:ext cx="1874520" cy="1371600"/>
          </a:xfrm>
          <a:prstGeom prst="roundRect">
            <a:avLst>
              <a:gd name="adj" fmla="val 4000"/>
            </a:avLst>
          </a:prstGeom>
          <a:solidFill>
            <a:srgbClr val="241A10">
              <a:alpha val="90000"/>
            </a:srgbClr>
          </a:solidFill>
          <a:ln w="9525">
            <a:solidFill>
              <a:srgbClr val="E8B64C">
                <a:alpha val="55000"/>
              </a:srgbClr>
            </a:solidFill>
            <a:prstDash val="solid"/>
          </a:ln>
        </p:spPr>
      </p:sp>
      <p:sp>
        <p:nvSpPr>
          <p:cNvPr id="18" name="Text 16"/>
          <p:cNvSpPr/>
          <p:nvPr/>
        </p:nvSpPr>
        <p:spPr>
          <a:xfrm>
            <a:off x="9585655" y="2788920"/>
            <a:ext cx="1691640" cy="1097280"/>
          </a:xfrm>
          <a:prstGeom prst="rect">
            <a:avLst/>
          </a:prstGeom>
          <a:noFill/>
          <a:ln/>
        </p:spPr>
        <p:txBody>
          <a:bodyPr wrap="square" rtlCol="0" anchor="ctr"/>
          <a:lstStyle/>
          <a:p>
            <a:pPr algn="ctr" indent="0" marL="0">
              <a:lnSpc>
                <a:spcPct val="120000"/>
              </a:lnSpc>
              <a:buNone/>
            </a:pPr>
            <a:r>
              <a:rPr lang="en-US" sz="1400" dirty="0">
                <a:solidFill>
                  <a:srgbClr val="F6ECD8"/>
                </a:solidFill>
                <a:latin typeface="Segoe UI" pitchFamily="34" charset="0"/>
                <a:ea typeface="Segoe UI" pitchFamily="34" charset="-122"/>
                <a:cs typeface="Segoe UI" pitchFamily="34" charset="-120"/>
              </a:rPr>
              <a:t>Cascade —</a:t>
            </a:r>
            <a:endParaRPr lang="en-US" sz="1400" dirty="0"/>
          </a:p>
          <a:p>
            <a:pPr algn="ctr" indent="0" marL="0">
              <a:lnSpc>
                <a:spcPct val="120000"/>
              </a:lnSpc>
              <a:buNone/>
            </a:pPr>
            <a:r>
              <a:rPr lang="en-US" sz="1400" dirty="0">
                <a:solidFill>
                  <a:srgbClr val="F6ECD8"/>
                </a:solidFill>
                <a:latin typeface="Segoe UI" pitchFamily="34" charset="0"/>
                <a:ea typeface="Segoe UI" pitchFamily="34" charset="-122"/>
                <a:cs typeface="Segoe UI" pitchFamily="34" charset="-120"/>
              </a:rPr>
              <a:t>quân trên rơi tiếp</a:t>
            </a:r>
            <a:endParaRPr lang="en-US" sz="1400" dirty="0"/>
          </a:p>
        </p:txBody>
      </p:sp>
      <p:sp>
        <p:nvSpPr>
          <p:cNvPr id="19" name="Text 17"/>
          <p:cNvSpPr/>
          <p:nvPr/>
        </p:nvSpPr>
        <p:spPr>
          <a:xfrm>
            <a:off x="822960" y="4663440"/>
            <a:ext cx="10545775" cy="640080"/>
          </a:xfrm>
          <a:prstGeom prst="rect">
            <a:avLst/>
          </a:prstGeom>
          <a:noFill/>
          <a:ln/>
        </p:spPr>
        <p:txBody>
          <a:bodyPr wrap="square" rtlCol="0" anchor="ctr"/>
          <a:lstStyle/>
          <a:p>
            <a:pPr indent="0" marL="0">
              <a:lnSpc>
                <a:spcPct val="130000"/>
              </a:lnSpc>
              <a:buNone/>
            </a:pPr>
            <a:r>
              <a:rPr lang="en-US" sz="1350" i="1" dirty="0">
                <a:solidFill>
                  <a:srgbClr val="C9BAA0"/>
                </a:solidFill>
                <a:latin typeface="Segoe UI" pitchFamily="34" charset="0"/>
                <a:ea typeface="Segoe UI" pitchFamily="34" charset="-122"/>
                <a:cs typeface="Segoe UI" pitchFamily="34" charset="-120"/>
              </a:rPr>
              <a:t>Level 1 là cú chạm luôn thắng ngay (khối đầu tiên đã có sẵn 1 cặp) — sau đó guard "no baked self-match" đảm bảo không khối nào tự có sẵn match miễn phí.</a:t>
            </a:r>
            <a:endParaRPr lang="en-US" sz="1350" dirty="0"/>
          </a:p>
        </p:txBody>
      </p:sp>
      <p:sp>
        <p:nvSpPr>
          <p:cNvPr id="20" name="Text 18"/>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21" name="Text 19"/>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02 · CƠ CHẾ &amp; VÒNG LẶP</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Các lớp luật đặc biệt</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sp>
        <p:nvSpPr>
          <p:cNvPr id="5" name="Shape 3"/>
          <p:cNvSpPr/>
          <p:nvPr/>
        </p:nvSpPr>
        <p:spPr>
          <a:xfrm>
            <a:off x="822960" y="1874520"/>
            <a:ext cx="3332378" cy="1600200"/>
          </a:xfrm>
          <a:prstGeom prst="roundRect">
            <a:avLst>
              <a:gd name="adj" fmla="val 3429"/>
            </a:avLst>
          </a:prstGeom>
          <a:solidFill>
            <a:srgbClr val="241A10">
              <a:alpha val="75000"/>
            </a:srgbClr>
          </a:solidFill>
          <a:ln w="9525">
            <a:solidFill>
              <a:srgbClr val="E8B64C">
                <a:alpha val="55000"/>
              </a:srgbClr>
            </a:solidFill>
            <a:prstDash val="solid"/>
          </a:ln>
        </p:spPr>
      </p:sp>
      <p:sp>
        <p:nvSpPr>
          <p:cNvPr id="6" name="Text 4"/>
          <p:cNvSpPr/>
          <p:nvPr/>
        </p:nvSpPr>
        <p:spPr>
          <a:xfrm>
            <a:off x="1024128" y="2011680"/>
            <a:ext cx="2930042" cy="457200"/>
          </a:xfrm>
          <a:prstGeom prst="rect">
            <a:avLst/>
          </a:prstGeom>
          <a:noFill/>
          <a:ln/>
        </p:spPr>
        <p:txBody>
          <a:bodyPr wrap="square" rtlCol="0" anchor="ctr"/>
          <a:lstStyle/>
          <a:p>
            <a:pPr indent="0" marL="0">
              <a:buNone/>
            </a:pPr>
            <a:r>
              <a:rPr lang="en-US" sz="1500" b="1" dirty="0">
                <a:solidFill>
                  <a:srgbClr val="E8B64C"/>
                </a:solidFill>
                <a:latin typeface="Segoe UI" pitchFamily="34" charset="0"/>
                <a:ea typeface="Segoe UI" pitchFamily="34" charset="-122"/>
                <a:cs typeface="Segoe UI" pitchFamily="34" charset="-120"/>
              </a:rPr>
              <a:t>🔒 Seal (Phong Ấn)</a:t>
            </a:r>
            <a:endParaRPr lang="en-US" sz="1500" dirty="0"/>
          </a:p>
        </p:txBody>
      </p:sp>
      <p:sp>
        <p:nvSpPr>
          <p:cNvPr id="7" name="Text 5"/>
          <p:cNvSpPr/>
          <p:nvPr/>
        </p:nvSpPr>
        <p:spPr>
          <a:xfrm>
            <a:off x="1024128" y="2468880"/>
            <a:ext cx="2930042" cy="868680"/>
          </a:xfrm>
          <a:prstGeom prst="rect">
            <a:avLst/>
          </a:prstGeom>
          <a:noFill/>
          <a:ln/>
        </p:spPr>
        <p:txBody>
          <a:bodyPr wrap="square" rtlCol="0" anchor="ctr"/>
          <a:lstStyle/>
          <a:p>
            <a:pPr indent="0" marL="0">
              <a:lnSpc>
                <a:spcPct val="125000"/>
              </a:lnSpc>
              <a:buNone/>
            </a:pPr>
            <a:r>
              <a:rPr lang="en-US" sz="1250" dirty="0">
                <a:solidFill>
                  <a:srgbClr val="F6ECD8"/>
                </a:solidFill>
                <a:latin typeface="Segoe UI" pitchFamily="34" charset="0"/>
                <a:ea typeface="Segoe UI" pitchFamily="34" charset="-122"/>
                <a:cs typeface="Segoe UI" pitchFamily="34" charset="-120"/>
              </a:rPr>
              <a:t>Ô khoá tới khi Match đủ N mặt khác nhau — có ở 21/50 màn.</a:t>
            </a:r>
            <a:endParaRPr lang="en-US" sz="1250" dirty="0"/>
          </a:p>
        </p:txBody>
      </p:sp>
      <p:sp>
        <p:nvSpPr>
          <p:cNvPr id="8" name="Shape 6"/>
          <p:cNvSpPr/>
          <p:nvPr/>
        </p:nvSpPr>
        <p:spPr>
          <a:xfrm>
            <a:off x="4429658" y="1874520"/>
            <a:ext cx="3332378" cy="1600200"/>
          </a:xfrm>
          <a:prstGeom prst="roundRect">
            <a:avLst>
              <a:gd name="adj" fmla="val 3429"/>
            </a:avLst>
          </a:prstGeom>
          <a:solidFill>
            <a:srgbClr val="241A10">
              <a:alpha val="75000"/>
            </a:srgbClr>
          </a:solidFill>
          <a:ln w="9525">
            <a:solidFill>
              <a:srgbClr val="E8B64C">
                <a:alpha val="55000"/>
              </a:srgbClr>
            </a:solidFill>
            <a:prstDash val="solid"/>
          </a:ln>
        </p:spPr>
      </p:sp>
      <p:sp>
        <p:nvSpPr>
          <p:cNvPr id="9" name="Text 7"/>
          <p:cNvSpPr/>
          <p:nvPr/>
        </p:nvSpPr>
        <p:spPr>
          <a:xfrm>
            <a:off x="4630826" y="2011680"/>
            <a:ext cx="2930042" cy="457200"/>
          </a:xfrm>
          <a:prstGeom prst="rect">
            <a:avLst/>
          </a:prstGeom>
          <a:noFill/>
          <a:ln/>
        </p:spPr>
        <p:txBody>
          <a:bodyPr wrap="square" rtlCol="0" anchor="ctr"/>
          <a:lstStyle/>
          <a:p>
            <a:pPr indent="0" marL="0">
              <a:buNone/>
            </a:pPr>
            <a:r>
              <a:rPr lang="en-US" sz="1500" b="1" dirty="0">
                <a:solidFill>
                  <a:srgbClr val="E8B64C"/>
                </a:solidFill>
                <a:latin typeface="Segoe UI" pitchFamily="34" charset="0"/>
                <a:ea typeface="Segoe UI" pitchFamily="34" charset="-122"/>
                <a:cs typeface="Segoe UI" pitchFamily="34" charset="-120"/>
              </a:rPr>
              <a:t>🧱 Ô Chắn (Permanent)</a:t>
            </a:r>
            <a:endParaRPr lang="en-US" sz="1500" dirty="0"/>
          </a:p>
        </p:txBody>
      </p:sp>
      <p:sp>
        <p:nvSpPr>
          <p:cNvPr id="10" name="Text 8"/>
          <p:cNvSpPr/>
          <p:nvPr/>
        </p:nvSpPr>
        <p:spPr>
          <a:xfrm>
            <a:off x="4630826" y="2468880"/>
            <a:ext cx="2930042" cy="868680"/>
          </a:xfrm>
          <a:prstGeom prst="rect">
            <a:avLst/>
          </a:prstGeom>
          <a:noFill/>
          <a:ln/>
        </p:spPr>
        <p:txBody>
          <a:bodyPr wrap="square" rtlCol="0" anchor="ctr"/>
          <a:lstStyle/>
          <a:p>
            <a:pPr indent="0" marL="0">
              <a:lnSpc>
                <a:spcPct val="125000"/>
              </a:lnSpc>
              <a:buNone/>
            </a:pPr>
            <a:r>
              <a:rPr lang="en-US" sz="1250" dirty="0">
                <a:solidFill>
                  <a:srgbClr val="F6ECD8"/>
                </a:solidFill>
                <a:latin typeface="Segoe UI" pitchFamily="34" charset="0"/>
                <a:ea typeface="Segoe UI" pitchFamily="34" charset="-122"/>
                <a:cs typeface="Segoe UI" pitchFamily="34" charset="-120"/>
              </a:rPr>
              <a:t>Ô khoá vĩnh viễn, buộc định tuyến vòng qua — có ở 26/50 màn.</a:t>
            </a:r>
            <a:endParaRPr lang="en-US" sz="1250" dirty="0"/>
          </a:p>
        </p:txBody>
      </p:sp>
      <p:sp>
        <p:nvSpPr>
          <p:cNvPr id="11" name="Shape 9"/>
          <p:cNvSpPr/>
          <p:nvPr/>
        </p:nvSpPr>
        <p:spPr>
          <a:xfrm>
            <a:off x="8036357" y="1874520"/>
            <a:ext cx="3332378" cy="1600200"/>
          </a:xfrm>
          <a:prstGeom prst="roundRect">
            <a:avLst>
              <a:gd name="adj" fmla="val 3429"/>
            </a:avLst>
          </a:prstGeom>
          <a:solidFill>
            <a:srgbClr val="241A10">
              <a:alpha val="75000"/>
            </a:srgbClr>
          </a:solidFill>
          <a:ln w="9525">
            <a:solidFill>
              <a:srgbClr val="E8B64C">
                <a:alpha val="55000"/>
              </a:srgbClr>
            </a:solidFill>
            <a:prstDash val="solid"/>
          </a:ln>
        </p:spPr>
      </p:sp>
      <p:sp>
        <p:nvSpPr>
          <p:cNvPr id="12" name="Text 10"/>
          <p:cNvSpPr/>
          <p:nvPr/>
        </p:nvSpPr>
        <p:spPr>
          <a:xfrm>
            <a:off x="8237525" y="2011680"/>
            <a:ext cx="2930042" cy="457200"/>
          </a:xfrm>
          <a:prstGeom prst="rect">
            <a:avLst/>
          </a:prstGeom>
          <a:noFill/>
          <a:ln/>
        </p:spPr>
        <p:txBody>
          <a:bodyPr wrap="square" rtlCol="0" anchor="ctr"/>
          <a:lstStyle/>
          <a:p>
            <a:pPr indent="0" marL="0">
              <a:buNone/>
            </a:pPr>
            <a:r>
              <a:rPr lang="en-US" sz="1500" b="1" dirty="0">
                <a:solidFill>
                  <a:srgbClr val="E8B64C"/>
                </a:solidFill>
                <a:latin typeface="Segoe UI" pitchFamily="34" charset="0"/>
                <a:ea typeface="Segoe UI" pitchFamily="34" charset="-122"/>
                <a:cs typeface="Segoe UI" pitchFamily="34" charset="-120"/>
              </a:rPr>
              <a:t>🗝 Lock</a:t>
            </a:r>
            <a:endParaRPr lang="en-US" sz="1500" dirty="0"/>
          </a:p>
        </p:txBody>
      </p:sp>
      <p:sp>
        <p:nvSpPr>
          <p:cNvPr id="13" name="Text 11"/>
          <p:cNvSpPr/>
          <p:nvPr/>
        </p:nvSpPr>
        <p:spPr>
          <a:xfrm>
            <a:off x="8237525" y="2468880"/>
            <a:ext cx="2930042" cy="868680"/>
          </a:xfrm>
          <a:prstGeom prst="rect">
            <a:avLst/>
          </a:prstGeom>
          <a:noFill/>
          <a:ln/>
        </p:spPr>
        <p:txBody>
          <a:bodyPr wrap="square" rtlCol="0" anchor="ctr"/>
          <a:lstStyle/>
          <a:p>
            <a:pPr indent="0" marL="0">
              <a:lnSpc>
                <a:spcPct val="125000"/>
              </a:lnSpc>
              <a:buNone/>
            </a:pPr>
            <a:r>
              <a:rPr lang="en-US" sz="1250" dirty="0">
                <a:solidFill>
                  <a:srgbClr val="F6ECD8"/>
                </a:solidFill>
                <a:latin typeface="Segoe UI" pitchFamily="34" charset="0"/>
                <a:ea typeface="Segoe UI" pitchFamily="34" charset="-122"/>
                <a:cs typeface="Segoe UI" pitchFamily="34" charset="-120"/>
              </a:rPr>
              <a:t>Khoá gắn với đúng 1 mặt quân cụ thể — cơ chế mới nhất, Lv9/22/36.</a:t>
            </a:r>
            <a:endParaRPr lang="en-US" sz="1250" dirty="0"/>
          </a:p>
        </p:txBody>
      </p:sp>
      <p:sp>
        <p:nvSpPr>
          <p:cNvPr id="14" name="Shape 12"/>
          <p:cNvSpPr/>
          <p:nvPr/>
        </p:nvSpPr>
        <p:spPr>
          <a:xfrm>
            <a:off x="822960" y="3703320"/>
            <a:ext cx="3332378" cy="1600200"/>
          </a:xfrm>
          <a:prstGeom prst="roundRect">
            <a:avLst>
              <a:gd name="adj" fmla="val 3429"/>
            </a:avLst>
          </a:prstGeom>
          <a:solidFill>
            <a:srgbClr val="241A10">
              <a:alpha val="75000"/>
            </a:srgbClr>
          </a:solidFill>
          <a:ln w="9525">
            <a:solidFill>
              <a:srgbClr val="E8B64C">
                <a:alpha val="55000"/>
              </a:srgbClr>
            </a:solidFill>
            <a:prstDash val="solid"/>
          </a:ln>
        </p:spPr>
      </p:sp>
      <p:sp>
        <p:nvSpPr>
          <p:cNvPr id="15" name="Text 13"/>
          <p:cNvSpPr/>
          <p:nvPr/>
        </p:nvSpPr>
        <p:spPr>
          <a:xfrm>
            <a:off x="1024128" y="3840480"/>
            <a:ext cx="2930042" cy="457200"/>
          </a:xfrm>
          <a:prstGeom prst="rect">
            <a:avLst/>
          </a:prstGeom>
          <a:noFill/>
          <a:ln/>
        </p:spPr>
        <p:txBody>
          <a:bodyPr wrap="square" rtlCol="0" anchor="ctr"/>
          <a:lstStyle/>
          <a:p>
            <a:pPr indent="0" marL="0">
              <a:buNone/>
            </a:pPr>
            <a:r>
              <a:rPr lang="en-US" sz="1500" b="1" dirty="0">
                <a:solidFill>
                  <a:srgbClr val="E8B64C"/>
                </a:solidFill>
                <a:latin typeface="Segoe UI" pitchFamily="34" charset="0"/>
                <a:ea typeface="Segoe UI" pitchFamily="34" charset="-122"/>
                <a:cs typeface="Segoe UI" pitchFamily="34" charset="-120"/>
              </a:rPr>
              <a:t>⏳ Move Limit</a:t>
            </a:r>
            <a:endParaRPr lang="en-US" sz="1500" dirty="0"/>
          </a:p>
        </p:txBody>
      </p:sp>
      <p:sp>
        <p:nvSpPr>
          <p:cNvPr id="16" name="Text 14"/>
          <p:cNvSpPr/>
          <p:nvPr/>
        </p:nvSpPr>
        <p:spPr>
          <a:xfrm>
            <a:off x="1024128" y="4297680"/>
            <a:ext cx="2930042" cy="868680"/>
          </a:xfrm>
          <a:prstGeom prst="rect">
            <a:avLst/>
          </a:prstGeom>
          <a:noFill/>
          <a:ln/>
        </p:spPr>
        <p:txBody>
          <a:bodyPr wrap="square" rtlCol="0" anchor="ctr"/>
          <a:lstStyle/>
          <a:p>
            <a:pPr indent="0" marL="0">
              <a:lnSpc>
                <a:spcPct val="125000"/>
              </a:lnSpc>
              <a:buNone/>
            </a:pPr>
            <a:r>
              <a:rPr lang="en-US" sz="1250" dirty="0">
                <a:solidFill>
                  <a:srgbClr val="F6ECD8"/>
                </a:solidFill>
                <a:latin typeface="Segoe UI" pitchFamily="34" charset="0"/>
                <a:ea typeface="Segoe UI" pitchFamily="34" charset="-122"/>
                <a:cs typeface="Segoe UI" pitchFamily="34" charset="-120"/>
              </a:rPr>
              <a:t>Giới hạn số lượt đi — biến "còn dư bao nhiêu nước" thành áp lực thật.</a:t>
            </a:r>
            <a:endParaRPr lang="en-US" sz="1250" dirty="0"/>
          </a:p>
        </p:txBody>
      </p:sp>
      <p:sp>
        <p:nvSpPr>
          <p:cNvPr id="17" name="Shape 15"/>
          <p:cNvSpPr/>
          <p:nvPr/>
        </p:nvSpPr>
        <p:spPr>
          <a:xfrm>
            <a:off x="4429658" y="3703320"/>
            <a:ext cx="3332378" cy="1600200"/>
          </a:xfrm>
          <a:prstGeom prst="roundRect">
            <a:avLst>
              <a:gd name="adj" fmla="val 3429"/>
            </a:avLst>
          </a:prstGeom>
          <a:solidFill>
            <a:srgbClr val="241A10">
              <a:alpha val="75000"/>
            </a:srgbClr>
          </a:solidFill>
          <a:ln w="9525">
            <a:solidFill>
              <a:srgbClr val="E8B64C">
                <a:alpha val="55000"/>
              </a:srgbClr>
            </a:solidFill>
            <a:prstDash val="solid"/>
          </a:ln>
        </p:spPr>
      </p:sp>
      <p:sp>
        <p:nvSpPr>
          <p:cNvPr id="18" name="Text 16"/>
          <p:cNvSpPr/>
          <p:nvPr/>
        </p:nvSpPr>
        <p:spPr>
          <a:xfrm>
            <a:off x="4630826" y="3840480"/>
            <a:ext cx="2930042" cy="457200"/>
          </a:xfrm>
          <a:prstGeom prst="rect">
            <a:avLst/>
          </a:prstGeom>
          <a:noFill/>
          <a:ln/>
        </p:spPr>
        <p:txBody>
          <a:bodyPr wrap="square" rtlCol="0" anchor="ctr"/>
          <a:lstStyle/>
          <a:p>
            <a:pPr indent="0" marL="0">
              <a:buNone/>
            </a:pPr>
            <a:r>
              <a:rPr lang="en-US" sz="1500" b="1" dirty="0">
                <a:solidFill>
                  <a:srgbClr val="E8B64C"/>
                </a:solidFill>
                <a:latin typeface="Segoe UI" pitchFamily="34" charset="0"/>
                <a:ea typeface="Segoe UI" pitchFamily="34" charset="-122"/>
                <a:cs typeface="Segoe UI" pitchFamily="34" charset="-120"/>
              </a:rPr>
              <a:t>🔄 Đổi khối · 💡 Hint</a:t>
            </a:r>
            <a:endParaRPr lang="en-US" sz="1500" dirty="0"/>
          </a:p>
        </p:txBody>
      </p:sp>
      <p:sp>
        <p:nvSpPr>
          <p:cNvPr id="19" name="Text 17"/>
          <p:cNvSpPr/>
          <p:nvPr/>
        </p:nvSpPr>
        <p:spPr>
          <a:xfrm>
            <a:off x="4630826" y="4297680"/>
            <a:ext cx="2930042" cy="868680"/>
          </a:xfrm>
          <a:prstGeom prst="rect">
            <a:avLst/>
          </a:prstGeom>
          <a:noFill/>
          <a:ln/>
        </p:spPr>
        <p:txBody>
          <a:bodyPr wrap="square" rtlCol="0" anchor="ctr"/>
          <a:lstStyle/>
          <a:p>
            <a:pPr indent="0" marL="0">
              <a:lnSpc>
                <a:spcPct val="125000"/>
              </a:lnSpc>
              <a:buNone/>
            </a:pPr>
            <a:r>
              <a:rPr lang="en-US" sz="1250" dirty="0">
                <a:solidFill>
                  <a:srgbClr val="F6ECD8"/>
                </a:solidFill>
                <a:latin typeface="Segoe UI" pitchFamily="34" charset="0"/>
                <a:ea typeface="Segoe UI" pitchFamily="34" charset="-122"/>
                <a:cs typeface="Segoe UI" pitchFamily="34" charset="-120"/>
              </a:rPr>
              <a:t>2 booster cứu nguy, số lượt cấp riêng theo từng màn.</a:t>
            </a:r>
            <a:endParaRPr lang="en-US" sz="1250" dirty="0"/>
          </a:p>
        </p:txBody>
      </p:sp>
      <p:sp>
        <p:nvSpPr>
          <p:cNvPr id="20" name="Shape 18"/>
          <p:cNvSpPr/>
          <p:nvPr/>
        </p:nvSpPr>
        <p:spPr>
          <a:xfrm>
            <a:off x="8036357" y="3703320"/>
            <a:ext cx="3332378" cy="1600200"/>
          </a:xfrm>
          <a:prstGeom prst="roundRect">
            <a:avLst>
              <a:gd name="adj" fmla="val 3429"/>
            </a:avLst>
          </a:prstGeom>
          <a:solidFill>
            <a:srgbClr val="241A10">
              <a:alpha val="75000"/>
            </a:srgbClr>
          </a:solidFill>
          <a:ln w="9525">
            <a:solidFill>
              <a:srgbClr val="E8B64C">
                <a:alpha val="55000"/>
              </a:srgbClr>
            </a:solidFill>
            <a:prstDash val="solid"/>
          </a:ln>
        </p:spPr>
      </p:sp>
      <p:sp>
        <p:nvSpPr>
          <p:cNvPr id="21" name="Text 19"/>
          <p:cNvSpPr/>
          <p:nvPr/>
        </p:nvSpPr>
        <p:spPr>
          <a:xfrm>
            <a:off x="8237525" y="3840480"/>
            <a:ext cx="2930042" cy="457200"/>
          </a:xfrm>
          <a:prstGeom prst="rect">
            <a:avLst/>
          </a:prstGeom>
          <a:noFill/>
          <a:ln/>
        </p:spPr>
        <p:txBody>
          <a:bodyPr wrap="square" rtlCol="0" anchor="ctr"/>
          <a:lstStyle/>
          <a:p>
            <a:pPr indent="0" marL="0">
              <a:buNone/>
            </a:pPr>
            <a:r>
              <a:rPr lang="en-US" sz="1500" b="1" dirty="0">
                <a:solidFill>
                  <a:srgbClr val="E8B64C"/>
                </a:solidFill>
                <a:latin typeface="Segoe UI" pitchFamily="34" charset="0"/>
                <a:ea typeface="Segoe UI" pitchFamily="34" charset="-122"/>
                <a:cs typeface="Segoe UI" pitchFamily="34" charset="-120"/>
              </a:rPr>
              <a:t>🎯 4 loại mục tiêu</a:t>
            </a:r>
            <a:endParaRPr lang="en-US" sz="1500" dirty="0"/>
          </a:p>
        </p:txBody>
      </p:sp>
      <p:sp>
        <p:nvSpPr>
          <p:cNvPr id="22" name="Text 20"/>
          <p:cNvSpPr/>
          <p:nvPr/>
        </p:nvSpPr>
        <p:spPr>
          <a:xfrm>
            <a:off x="8237525" y="4297680"/>
            <a:ext cx="2930042" cy="868680"/>
          </a:xfrm>
          <a:prstGeom prst="rect">
            <a:avLst/>
          </a:prstGeom>
          <a:noFill/>
          <a:ln/>
        </p:spPr>
        <p:txBody>
          <a:bodyPr wrap="square" rtlCol="0" anchor="ctr"/>
          <a:lstStyle/>
          <a:p>
            <a:pPr indent="0" marL="0">
              <a:lnSpc>
                <a:spcPct val="125000"/>
              </a:lnSpc>
              <a:buNone/>
            </a:pPr>
            <a:r>
              <a:rPr lang="en-US" sz="1250" dirty="0">
                <a:solidFill>
                  <a:srgbClr val="F6ECD8"/>
                </a:solidFill>
                <a:latin typeface="Segoe UI" pitchFamily="34" charset="0"/>
                <a:ea typeface="Segoe UI" pitchFamily="34" charset="-122"/>
                <a:cs typeface="Segoe UI" pitchFamily="34" charset="-120"/>
              </a:rPr>
              <a:t>Đủ số quân · N/M mặt quân · Phá Seal · Đích bị chôn dưới lớp quân.</a:t>
            </a:r>
            <a:endParaRPr lang="en-US" sz="1250" dirty="0"/>
          </a:p>
        </p:txBody>
      </p:sp>
      <p:sp>
        <p:nvSpPr>
          <p:cNvPr id="23" name="Text 21"/>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24" name="Text 22"/>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03 · THIẾT KẾ MÀN CHƠI</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50 màn, chia 5 chương</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sp>
        <p:nvSpPr>
          <p:cNvPr id="5" name="Shape 3"/>
          <p:cNvSpPr/>
          <p:nvPr/>
        </p:nvSpPr>
        <p:spPr>
          <a:xfrm>
            <a:off x="822960" y="1920240"/>
            <a:ext cx="64008" cy="713232"/>
          </a:xfrm>
          <a:prstGeom prst="rect">
            <a:avLst/>
          </a:prstGeom>
          <a:solidFill>
            <a:srgbClr val="E8B64C"/>
          </a:solidFill>
          <a:ln/>
        </p:spPr>
      </p:sp>
      <p:sp>
        <p:nvSpPr>
          <p:cNvPr id="6" name="Text 4"/>
          <p:cNvSpPr/>
          <p:nvPr/>
        </p:nvSpPr>
        <p:spPr>
          <a:xfrm>
            <a:off x="1005840" y="1874520"/>
            <a:ext cx="822960" cy="822960"/>
          </a:xfrm>
          <a:prstGeom prst="rect">
            <a:avLst/>
          </a:prstGeom>
          <a:noFill/>
          <a:ln/>
        </p:spPr>
        <p:txBody>
          <a:bodyPr wrap="square" rtlCol="0" anchor="ctr"/>
          <a:lstStyle/>
          <a:p>
            <a:pPr indent="0" marL="0">
              <a:buNone/>
            </a:pPr>
            <a:r>
              <a:rPr lang="en-US" sz="2400" dirty="0">
                <a:solidFill>
                  <a:srgbClr val="E8B64C"/>
                </a:solidFill>
                <a:latin typeface="Georgia" pitchFamily="34" charset="0"/>
                <a:ea typeface="Georgia" pitchFamily="34" charset="-122"/>
                <a:cs typeface="Georgia" pitchFamily="34" charset="-120"/>
              </a:rPr>
              <a:t>C1</a:t>
            </a:r>
            <a:endParaRPr lang="en-US" sz="2400" dirty="0"/>
          </a:p>
        </p:txBody>
      </p:sp>
      <p:sp>
        <p:nvSpPr>
          <p:cNvPr id="7" name="Text 5"/>
          <p:cNvSpPr/>
          <p:nvPr/>
        </p:nvSpPr>
        <p:spPr>
          <a:xfrm>
            <a:off x="1874520" y="1892808"/>
            <a:ext cx="2377440" cy="384048"/>
          </a:xfrm>
          <a:prstGeom prst="rect">
            <a:avLst/>
          </a:prstGeom>
          <a:noFill/>
          <a:ln/>
        </p:spPr>
        <p:txBody>
          <a:bodyPr wrap="square" rtlCol="0" anchor="ctr"/>
          <a:lstStyle/>
          <a:p>
            <a:pPr indent="0" marL="0">
              <a:buNone/>
            </a:pPr>
            <a:r>
              <a:rPr lang="en-US" sz="1700" b="1" dirty="0">
                <a:solidFill>
                  <a:srgbClr val="F6ECD8"/>
                </a:solidFill>
                <a:latin typeface="Segoe UI" pitchFamily="34" charset="0"/>
                <a:ea typeface="Segoe UI" pitchFamily="34" charset="-122"/>
                <a:cs typeface="Segoe UI" pitchFamily="34" charset="-120"/>
              </a:rPr>
              <a:t>Nền tảng</a:t>
            </a:r>
            <a:endParaRPr lang="en-US" sz="1700" dirty="0"/>
          </a:p>
        </p:txBody>
      </p:sp>
      <p:sp>
        <p:nvSpPr>
          <p:cNvPr id="8" name="Text 6"/>
          <p:cNvSpPr/>
          <p:nvPr/>
        </p:nvSpPr>
        <p:spPr>
          <a:xfrm>
            <a:off x="1874520" y="2276856"/>
            <a:ext cx="2377440" cy="329184"/>
          </a:xfrm>
          <a:prstGeom prst="rect">
            <a:avLst/>
          </a:prstGeom>
          <a:noFill/>
          <a:ln/>
        </p:spPr>
        <p:txBody>
          <a:bodyPr wrap="square" rtlCol="0" anchor="ctr"/>
          <a:lstStyle/>
          <a:p>
            <a:pPr indent="0" marL="0">
              <a:buNone/>
            </a:pPr>
            <a:r>
              <a:rPr lang="en-US" sz="1200" dirty="0">
                <a:solidFill>
                  <a:srgbClr val="C9BAA0"/>
                </a:solidFill>
                <a:latin typeface="Segoe UI" pitchFamily="34" charset="0"/>
                <a:ea typeface="Segoe UI" pitchFamily="34" charset="-122"/>
                <a:cs typeface="Segoe UI" pitchFamily="34" charset="-120"/>
              </a:rPr>
              <a:t>Lv 1–10</a:t>
            </a:r>
            <a:endParaRPr lang="en-US" sz="1200" dirty="0"/>
          </a:p>
        </p:txBody>
      </p:sp>
      <p:sp>
        <p:nvSpPr>
          <p:cNvPr id="9" name="Text 7"/>
          <p:cNvSpPr/>
          <p:nvPr/>
        </p:nvSpPr>
        <p:spPr>
          <a:xfrm>
            <a:off x="4343400" y="1874520"/>
            <a:ext cx="7071055" cy="822960"/>
          </a:xfrm>
          <a:prstGeom prst="rect">
            <a:avLst/>
          </a:prstGeom>
          <a:noFill/>
          <a:ln/>
        </p:spPr>
        <p:txBody>
          <a:bodyPr wrap="square" rtlCol="0" anchor="ctr"/>
          <a:lstStyle/>
          <a:p>
            <a:pPr indent="0" marL="0">
              <a:lnSpc>
                <a:spcPct val="125000"/>
              </a:lnSpc>
              <a:buNone/>
            </a:pPr>
            <a:r>
              <a:rPr lang="en-US" sz="1400" dirty="0">
                <a:solidFill>
                  <a:srgbClr val="F6ECD8"/>
                </a:solidFill>
                <a:latin typeface="Segoe UI" pitchFamily="34" charset="0"/>
                <a:ea typeface="Segoe UI" pitchFamily="34" charset="-122"/>
                <a:cs typeface="Segoe UI" pitchFamily="34" charset="-120"/>
              </a:rPr>
              <a:t>Học core loop: đặt, match, che–lộ 2 tầng</a:t>
            </a:r>
            <a:endParaRPr lang="en-US" sz="1400" dirty="0"/>
          </a:p>
        </p:txBody>
      </p:sp>
      <p:sp>
        <p:nvSpPr>
          <p:cNvPr id="10" name="Shape 8"/>
          <p:cNvSpPr/>
          <p:nvPr/>
        </p:nvSpPr>
        <p:spPr>
          <a:xfrm>
            <a:off x="822960" y="2788920"/>
            <a:ext cx="64008" cy="713232"/>
          </a:xfrm>
          <a:prstGeom prst="rect">
            <a:avLst/>
          </a:prstGeom>
          <a:solidFill>
            <a:srgbClr val="D2691E"/>
          </a:solidFill>
          <a:ln/>
        </p:spPr>
      </p:sp>
      <p:sp>
        <p:nvSpPr>
          <p:cNvPr id="11" name="Text 9"/>
          <p:cNvSpPr/>
          <p:nvPr/>
        </p:nvSpPr>
        <p:spPr>
          <a:xfrm>
            <a:off x="1005840" y="2743200"/>
            <a:ext cx="822960" cy="822960"/>
          </a:xfrm>
          <a:prstGeom prst="rect">
            <a:avLst/>
          </a:prstGeom>
          <a:noFill/>
          <a:ln/>
        </p:spPr>
        <p:txBody>
          <a:bodyPr wrap="square" rtlCol="0" anchor="ctr"/>
          <a:lstStyle/>
          <a:p>
            <a:pPr indent="0" marL="0">
              <a:buNone/>
            </a:pPr>
            <a:r>
              <a:rPr lang="en-US" sz="2400" dirty="0">
                <a:solidFill>
                  <a:srgbClr val="D2691E"/>
                </a:solidFill>
                <a:latin typeface="Georgia" pitchFamily="34" charset="0"/>
                <a:ea typeface="Georgia" pitchFamily="34" charset="-122"/>
                <a:cs typeface="Georgia" pitchFamily="34" charset="-120"/>
              </a:rPr>
              <a:t>C2</a:t>
            </a:r>
            <a:endParaRPr lang="en-US" sz="2400" dirty="0"/>
          </a:p>
        </p:txBody>
      </p:sp>
      <p:sp>
        <p:nvSpPr>
          <p:cNvPr id="12" name="Text 10"/>
          <p:cNvSpPr/>
          <p:nvPr/>
        </p:nvSpPr>
        <p:spPr>
          <a:xfrm>
            <a:off x="1874520" y="2761488"/>
            <a:ext cx="2377440" cy="384048"/>
          </a:xfrm>
          <a:prstGeom prst="rect">
            <a:avLst/>
          </a:prstGeom>
          <a:noFill/>
          <a:ln/>
        </p:spPr>
        <p:txBody>
          <a:bodyPr wrap="square" rtlCol="0" anchor="ctr"/>
          <a:lstStyle/>
          <a:p>
            <a:pPr indent="0" marL="0">
              <a:buNone/>
            </a:pPr>
            <a:r>
              <a:rPr lang="en-US" sz="1700" b="1" dirty="0">
                <a:solidFill>
                  <a:srgbClr val="F6ECD8"/>
                </a:solidFill>
                <a:latin typeface="Segoe UI" pitchFamily="34" charset="0"/>
                <a:ea typeface="Segoe UI" pitchFamily="34" charset="-122"/>
                <a:cs typeface="Segoe UI" pitchFamily="34" charset="-120"/>
              </a:rPr>
              <a:t>Phong Ấn</a:t>
            </a:r>
            <a:endParaRPr lang="en-US" sz="1700" dirty="0"/>
          </a:p>
        </p:txBody>
      </p:sp>
      <p:sp>
        <p:nvSpPr>
          <p:cNvPr id="13" name="Text 11"/>
          <p:cNvSpPr/>
          <p:nvPr/>
        </p:nvSpPr>
        <p:spPr>
          <a:xfrm>
            <a:off x="1874520" y="3145536"/>
            <a:ext cx="2377440" cy="329184"/>
          </a:xfrm>
          <a:prstGeom prst="rect">
            <a:avLst/>
          </a:prstGeom>
          <a:noFill/>
          <a:ln/>
        </p:spPr>
        <p:txBody>
          <a:bodyPr wrap="square" rtlCol="0" anchor="ctr"/>
          <a:lstStyle/>
          <a:p>
            <a:pPr indent="0" marL="0">
              <a:buNone/>
            </a:pPr>
            <a:r>
              <a:rPr lang="en-US" sz="1200" dirty="0">
                <a:solidFill>
                  <a:srgbClr val="C9BAA0"/>
                </a:solidFill>
                <a:latin typeface="Segoe UI" pitchFamily="34" charset="0"/>
                <a:ea typeface="Segoe UI" pitchFamily="34" charset="-122"/>
                <a:cs typeface="Segoe UI" pitchFamily="34" charset="-120"/>
              </a:rPr>
              <a:t>Lv 11–20</a:t>
            </a:r>
            <a:endParaRPr lang="en-US" sz="1200" dirty="0"/>
          </a:p>
        </p:txBody>
      </p:sp>
      <p:sp>
        <p:nvSpPr>
          <p:cNvPr id="14" name="Text 12"/>
          <p:cNvSpPr/>
          <p:nvPr/>
        </p:nvSpPr>
        <p:spPr>
          <a:xfrm>
            <a:off x="4343400" y="2743200"/>
            <a:ext cx="7071055" cy="822960"/>
          </a:xfrm>
          <a:prstGeom prst="rect">
            <a:avLst/>
          </a:prstGeom>
          <a:noFill/>
          <a:ln/>
        </p:spPr>
        <p:txBody>
          <a:bodyPr wrap="square" rtlCol="0" anchor="ctr"/>
          <a:lstStyle/>
          <a:p>
            <a:pPr indent="0" marL="0">
              <a:lnSpc>
                <a:spcPct val="125000"/>
              </a:lnSpc>
              <a:buNone/>
            </a:pPr>
            <a:r>
              <a:rPr lang="en-US" sz="1400" dirty="0">
                <a:solidFill>
                  <a:srgbClr val="F6ECD8"/>
                </a:solidFill>
                <a:latin typeface="Segoe UI" pitchFamily="34" charset="0"/>
                <a:ea typeface="Segoe UI" pitchFamily="34" charset="-122"/>
                <a:cs typeface="Segoe UI" pitchFamily="34" charset="-120"/>
              </a:rPr>
              <a:t>Giới thiệu Seal — khoá theo số mặt khác nhau</a:t>
            </a:r>
            <a:endParaRPr lang="en-US" sz="1400" dirty="0"/>
          </a:p>
        </p:txBody>
      </p:sp>
      <p:sp>
        <p:nvSpPr>
          <p:cNvPr id="15" name="Shape 13"/>
          <p:cNvSpPr/>
          <p:nvPr/>
        </p:nvSpPr>
        <p:spPr>
          <a:xfrm>
            <a:off x="822960" y="3657600"/>
            <a:ext cx="64008" cy="713232"/>
          </a:xfrm>
          <a:prstGeom prst="rect">
            <a:avLst/>
          </a:prstGeom>
          <a:solidFill>
            <a:srgbClr val="8FBF52"/>
          </a:solidFill>
          <a:ln/>
        </p:spPr>
      </p:sp>
      <p:sp>
        <p:nvSpPr>
          <p:cNvPr id="16" name="Text 14"/>
          <p:cNvSpPr/>
          <p:nvPr/>
        </p:nvSpPr>
        <p:spPr>
          <a:xfrm>
            <a:off x="1005840" y="3611880"/>
            <a:ext cx="822960" cy="822960"/>
          </a:xfrm>
          <a:prstGeom prst="rect">
            <a:avLst/>
          </a:prstGeom>
          <a:noFill/>
          <a:ln/>
        </p:spPr>
        <p:txBody>
          <a:bodyPr wrap="square" rtlCol="0" anchor="ctr"/>
          <a:lstStyle/>
          <a:p>
            <a:pPr indent="0" marL="0">
              <a:buNone/>
            </a:pPr>
            <a:r>
              <a:rPr lang="en-US" sz="2400" dirty="0">
                <a:solidFill>
                  <a:srgbClr val="8FBF52"/>
                </a:solidFill>
                <a:latin typeface="Georgia" pitchFamily="34" charset="0"/>
                <a:ea typeface="Georgia" pitchFamily="34" charset="-122"/>
                <a:cs typeface="Georgia" pitchFamily="34" charset="-120"/>
              </a:rPr>
              <a:t>C3</a:t>
            </a:r>
            <a:endParaRPr lang="en-US" sz="2400" dirty="0"/>
          </a:p>
        </p:txBody>
      </p:sp>
      <p:sp>
        <p:nvSpPr>
          <p:cNvPr id="17" name="Text 15"/>
          <p:cNvSpPr/>
          <p:nvPr/>
        </p:nvSpPr>
        <p:spPr>
          <a:xfrm>
            <a:off x="1874520" y="3630168"/>
            <a:ext cx="2377440" cy="384048"/>
          </a:xfrm>
          <a:prstGeom prst="rect">
            <a:avLst/>
          </a:prstGeom>
          <a:noFill/>
          <a:ln/>
        </p:spPr>
        <p:txBody>
          <a:bodyPr wrap="square" rtlCol="0" anchor="ctr"/>
          <a:lstStyle/>
          <a:p>
            <a:pPr indent="0" marL="0">
              <a:buNone/>
            </a:pPr>
            <a:r>
              <a:rPr lang="en-US" sz="1700" b="1" dirty="0">
                <a:solidFill>
                  <a:srgbClr val="F6ECD8"/>
                </a:solidFill>
                <a:latin typeface="Segoe UI" pitchFamily="34" charset="0"/>
                <a:ea typeface="Segoe UI" pitchFamily="34" charset="-122"/>
                <a:cs typeface="Segoe UI" pitchFamily="34" charset="-120"/>
              </a:rPr>
              <a:t>Ô Chắn</a:t>
            </a:r>
            <a:endParaRPr lang="en-US" sz="1700" dirty="0"/>
          </a:p>
        </p:txBody>
      </p:sp>
      <p:sp>
        <p:nvSpPr>
          <p:cNvPr id="18" name="Text 16"/>
          <p:cNvSpPr/>
          <p:nvPr/>
        </p:nvSpPr>
        <p:spPr>
          <a:xfrm>
            <a:off x="1874520" y="4014216"/>
            <a:ext cx="2377440" cy="329184"/>
          </a:xfrm>
          <a:prstGeom prst="rect">
            <a:avLst/>
          </a:prstGeom>
          <a:noFill/>
          <a:ln/>
        </p:spPr>
        <p:txBody>
          <a:bodyPr wrap="square" rtlCol="0" anchor="ctr"/>
          <a:lstStyle/>
          <a:p>
            <a:pPr indent="0" marL="0">
              <a:buNone/>
            </a:pPr>
            <a:r>
              <a:rPr lang="en-US" sz="1200" dirty="0">
                <a:solidFill>
                  <a:srgbClr val="C9BAA0"/>
                </a:solidFill>
                <a:latin typeface="Segoe UI" pitchFamily="34" charset="0"/>
                <a:ea typeface="Segoe UI" pitchFamily="34" charset="-122"/>
                <a:cs typeface="Segoe UI" pitchFamily="34" charset="-120"/>
              </a:rPr>
              <a:t>Lv 21–30</a:t>
            </a:r>
            <a:endParaRPr lang="en-US" sz="1200" dirty="0"/>
          </a:p>
        </p:txBody>
      </p:sp>
      <p:sp>
        <p:nvSpPr>
          <p:cNvPr id="19" name="Text 17"/>
          <p:cNvSpPr/>
          <p:nvPr/>
        </p:nvSpPr>
        <p:spPr>
          <a:xfrm>
            <a:off x="4343400" y="3611880"/>
            <a:ext cx="7071055" cy="822960"/>
          </a:xfrm>
          <a:prstGeom prst="rect">
            <a:avLst/>
          </a:prstGeom>
          <a:noFill/>
          <a:ln/>
        </p:spPr>
        <p:txBody>
          <a:bodyPr wrap="square" rtlCol="0" anchor="ctr"/>
          <a:lstStyle/>
          <a:p>
            <a:pPr indent="0" marL="0">
              <a:lnSpc>
                <a:spcPct val="125000"/>
              </a:lnSpc>
              <a:buNone/>
            </a:pPr>
            <a:r>
              <a:rPr lang="en-US" sz="1400" dirty="0">
                <a:solidFill>
                  <a:srgbClr val="F6ECD8"/>
                </a:solidFill>
                <a:latin typeface="Segoe UI" pitchFamily="34" charset="0"/>
                <a:ea typeface="Segoe UI" pitchFamily="34" charset="-122"/>
                <a:cs typeface="Segoe UI" pitchFamily="34" charset="-120"/>
              </a:rPr>
              <a:t>Ô khoá vĩnh viễn — buộc định tuyến vòng qua</a:t>
            </a:r>
            <a:endParaRPr lang="en-US" sz="1400" dirty="0"/>
          </a:p>
        </p:txBody>
      </p:sp>
      <p:sp>
        <p:nvSpPr>
          <p:cNvPr id="20" name="Shape 18"/>
          <p:cNvSpPr/>
          <p:nvPr/>
        </p:nvSpPr>
        <p:spPr>
          <a:xfrm>
            <a:off x="822960" y="4526280"/>
            <a:ext cx="64008" cy="713232"/>
          </a:xfrm>
          <a:prstGeom prst="rect">
            <a:avLst/>
          </a:prstGeom>
          <a:solidFill>
            <a:srgbClr val="D9A441"/>
          </a:solidFill>
          <a:ln/>
        </p:spPr>
      </p:sp>
      <p:sp>
        <p:nvSpPr>
          <p:cNvPr id="21" name="Text 19"/>
          <p:cNvSpPr/>
          <p:nvPr/>
        </p:nvSpPr>
        <p:spPr>
          <a:xfrm>
            <a:off x="1005840" y="4480560"/>
            <a:ext cx="822960" cy="822960"/>
          </a:xfrm>
          <a:prstGeom prst="rect">
            <a:avLst/>
          </a:prstGeom>
          <a:noFill/>
          <a:ln/>
        </p:spPr>
        <p:txBody>
          <a:bodyPr wrap="square" rtlCol="0" anchor="ctr"/>
          <a:lstStyle/>
          <a:p>
            <a:pPr indent="0" marL="0">
              <a:buNone/>
            </a:pPr>
            <a:r>
              <a:rPr lang="en-US" sz="2400" dirty="0">
                <a:solidFill>
                  <a:srgbClr val="D9A441"/>
                </a:solidFill>
                <a:latin typeface="Georgia" pitchFamily="34" charset="0"/>
                <a:ea typeface="Georgia" pitchFamily="34" charset="-122"/>
                <a:cs typeface="Georgia" pitchFamily="34" charset="-120"/>
              </a:rPr>
              <a:t>C4</a:t>
            </a:r>
            <a:endParaRPr lang="en-US" sz="2400" dirty="0"/>
          </a:p>
        </p:txBody>
      </p:sp>
      <p:sp>
        <p:nvSpPr>
          <p:cNvPr id="22" name="Text 20"/>
          <p:cNvSpPr/>
          <p:nvPr/>
        </p:nvSpPr>
        <p:spPr>
          <a:xfrm>
            <a:off x="1874520" y="4498848"/>
            <a:ext cx="2377440" cy="384048"/>
          </a:xfrm>
          <a:prstGeom prst="rect">
            <a:avLst/>
          </a:prstGeom>
          <a:noFill/>
          <a:ln/>
        </p:spPr>
        <p:txBody>
          <a:bodyPr wrap="square" rtlCol="0" anchor="ctr"/>
          <a:lstStyle/>
          <a:p>
            <a:pPr indent="0" marL="0">
              <a:buNone/>
            </a:pPr>
            <a:r>
              <a:rPr lang="en-US" sz="1700" b="1" dirty="0">
                <a:solidFill>
                  <a:srgbClr val="F6ECD8"/>
                </a:solidFill>
                <a:latin typeface="Segoe UI" pitchFamily="34" charset="0"/>
                <a:ea typeface="Segoe UI" pitchFamily="34" charset="-122"/>
                <a:cs typeface="Segoe UI" pitchFamily="34" charset="-120"/>
              </a:rPr>
              <a:t>Kết hợp</a:t>
            </a:r>
            <a:endParaRPr lang="en-US" sz="1700" dirty="0"/>
          </a:p>
        </p:txBody>
      </p:sp>
      <p:sp>
        <p:nvSpPr>
          <p:cNvPr id="23" name="Text 21"/>
          <p:cNvSpPr/>
          <p:nvPr/>
        </p:nvSpPr>
        <p:spPr>
          <a:xfrm>
            <a:off x="1874520" y="4882896"/>
            <a:ext cx="2377440" cy="329184"/>
          </a:xfrm>
          <a:prstGeom prst="rect">
            <a:avLst/>
          </a:prstGeom>
          <a:noFill/>
          <a:ln/>
        </p:spPr>
        <p:txBody>
          <a:bodyPr wrap="square" rtlCol="0" anchor="ctr"/>
          <a:lstStyle/>
          <a:p>
            <a:pPr indent="0" marL="0">
              <a:buNone/>
            </a:pPr>
            <a:r>
              <a:rPr lang="en-US" sz="1200" dirty="0">
                <a:solidFill>
                  <a:srgbClr val="C9BAA0"/>
                </a:solidFill>
                <a:latin typeface="Segoe UI" pitchFamily="34" charset="0"/>
                <a:ea typeface="Segoe UI" pitchFamily="34" charset="-122"/>
                <a:cs typeface="Segoe UI" pitchFamily="34" charset="-120"/>
              </a:rPr>
              <a:t>Lv 31–40</a:t>
            </a:r>
            <a:endParaRPr lang="en-US" sz="1200" dirty="0"/>
          </a:p>
        </p:txBody>
      </p:sp>
      <p:sp>
        <p:nvSpPr>
          <p:cNvPr id="24" name="Text 22"/>
          <p:cNvSpPr/>
          <p:nvPr/>
        </p:nvSpPr>
        <p:spPr>
          <a:xfrm>
            <a:off x="4343400" y="4480560"/>
            <a:ext cx="7071055" cy="822960"/>
          </a:xfrm>
          <a:prstGeom prst="rect">
            <a:avLst/>
          </a:prstGeom>
          <a:noFill/>
          <a:ln/>
        </p:spPr>
        <p:txBody>
          <a:bodyPr wrap="square" rtlCol="0" anchor="ctr"/>
          <a:lstStyle/>
          <a:p>
            <a:pPr indent="0" marL="0">
              <a:lnSpc>
                <a:spcPct val="125000"/>
              </a:lnSpc>
              <a:buNone/>
            </a:pPr>
            <a:r>
              <a:rPr lang="en-US" sz="1400" dirty="0">
                <a:solidFill>
                  <a:srgbClr val="F6ECD8"/>
                </a:solidFill>
                <a:latin typeface="Segoe UI" pitchFamily="34" charset="0"/>
                <a:ea typeface="Segoe UI" pitchFamily="34" charset="-122"/>
                <a:cs typeface="Segoe UI" pitchFamily="34" charset="-120"/>
              </a:rPr>
              <a:t>Seal + Ô Chắn cùng lúc, giới thiệu Lock</a:t>
            </a:r>
            <a:endParaRPr lang="en-US" sz="1400" dirty="0"/>
          </a:p>
        </p:txBody>
      </p:sp>
      <p:sp>
        <p:nvSpPr>
          <p:cNvPr id="25" name="Shape 23"/>
          <p:cNvSpPr/>
          <p:nvPr/>
        </p:nvSpPr>
        <p:spPr>
          <a:xfrm>
            <a:off x="822960" y="5394960"/>
            <a:ext cx="64008" cy="713232"/>
          </a:xfrm>
          <a:prstGeom prst="rect">
            <a:avLst/>
          </a:prstGeom>
          <a:solidFill>
            <a:srgbClr val="D5527F"/>
          </a:solidFill>
          <a:ln/>
        </p:spPr>
      </p:sp>
      <p:sp>
        <p:nvSpPr>
          <p:cNvPr id="26" name="Text 24"/>
          <p:cNvSpPr/>
          <p:nvPr/>
        </p:nvSpPr>
        <p:spPr>
          <a:xfrm>
            <a:off x="1005840" y="5349240"/>
            <a:ext cx="822960" cy="822960"/>
          </a:xfrm>
          <a:prstGeom prst="rect">
            <a:avLst/>
          </a:prstGeom>
          <a:noFill/>
          <a:ln/>
        </p:spPr>
        <p:txBody>
          <a:bodyPr wrap="square" rtlCol="0" anchor="ctr"/>
          <a:lstStyle/>
          <a:p>
            <a:pPr indent="0" marL="0">
              <a:buNone/>
            </a:pPr>
            <a:r>
              <a:rPr lang="en-US" sz="2400" dirty="0">
                <a:solidFill>
                  <a:srgbClr val="D5527F"/>
                </a:solidFill>
                <a:latin typeface="Georgia" pitchFamily="34" charset="0"/>
                <a:ea typeface="Georgia" pitchFamily="34" charset="-122"/>
                <a:cs typeface="Georgia" pitchFamily="34" charset="-120"/>
              </a:rPr>
              <a:t>C5</a:t>
            </a:r>
            <a:endParaRPr lang="en-US" sz="2400" dirty="0"/>
          </a:p>
        </p:txBody>
      </p:sp>
      <p:sp>
        <p:nvSpPr>
          <p:cNvPr id="27" name="Text 25"/>
          <p:cNvSpPr/>
          <p:nvPr/>
        </p:nvSpPr>
        <p:spPr>
          <a:xfrm>
            <a:off x="1874520" y="5367528"/>
            <a:ext cx="2377440" cy="384048"/>
          </a:xfrm>
          <a:prstGeom prst="rect">
            <a:avLst/>
          </a:prstGeom>
          <a:noFill/>
          <a:ln/>
        </p:spPr>
        <p:txBody>
          <a:bodyPr wrap="square" rtlCol="0" anchor="ctr"/>
          <a:lstStyle/>
          <a:p>
            <a:pPr indent="0" marL="0">
              <a:buNone/>
            </a:pPr>
            <a:r>
              <a:rPr lang="en-US" sz="1700" b="1" dirty="0">
                <a:solidFill>
                  <a:srgbClr val="F6ECD8"/>
                </a:solidFill>
                <a:latin typeface="Segoe UI" pitchFamily="34" charset="0"/>
                <a:ea typeface="Segoe UI" pitchFamily="34" charset="-122"/>
                <a:cs typeface="Segoe UI" pitchFamily="34" charset="-120"/>
              </a:rPr>
              <a:t>Mastery</a:t>
            </a:r>
            <a:endParaRPr lang="en-US" sz="1700" dirty="0"/>
          </a:p>
        </p:txBody>
      </p:sp>
      <p:sp>
        <p:nvSpPr>
          <p:cNvPr id="28" name="Text 26"/>
          <p:cNvSpPr/>
          <p:nvPr/>
        </p:nvSpPr>
        <p:spPr>
          <a:xfrm>
            <a:off x="1874520" y="5751576"/>
            <a:ext cx="2377440" cy="329184"/>
          </a:xfrm>
          <a:prstGeom prst="rect">
            <a:avLst/>
          </a:prstGeom>
          <a:noFill/>
          <a:ln/>
        </p:spPr>
        <p:txBody>
          <a:bodyPr wrap="square" rtlCol="0" anchor="ctr"/>
          <a:lstStyle/>
          <a:p>
            <a:pPr indent="0" marL="0">
              <a:buNone/>
            </a:pPr>
            <a:r>
              <a:rPr lang="en-US" sz="1200" dirty="0">
                <a:solidFill>
                  <a:srgbClr val="C9BAA0"/>
                </a:solidFill>
                <a:latin typeface="Segoe UI" pitchFamily="34" charset="0"/>
                <a:ea typeface="Segoe UI" pitchFamily="34" charset="-122"/>
                <a:cs typeface="Segoe UI" pitchFamily="34" charset="-120"/>
              </a:rPr>
              <a:t>Lv 41–50</a:t>
            </a:r>
            <a:endParaRPr lang="en-US" sz="1200" dirty="0"/>
          </a:p>
        </p:txBody>
      </p:sp>
      <p:sp>
        <p:nvSpPr>
          <p:cNvPr id="29" name="Text 27"/>
          <p:cNvSpPr/>
          <p:nvPr/>
        </p:nvSpPr>
        <p:spPr>
          <a:xfrm>
            <a:off x="4343400" y="5349240"/>
            <a:ext cx="7071055" cy="822960"/>
          </a:xfrm>
          <a:prstGeom prst="rect">
            <a:avLst/>
          </a:prstGeom>
          <a:noFill/>
          <a:ln/>
        </p:spPr>
        <p:txBody>
          <a:bodyPr wrap="square" rtlCol="0" anchor="ctr"/>
          <a:lstStyle/>
          <a:p>
            <a:pPr indent="0" marL="0">
              <a:lnSpc>
                <a:spcPct val="125000"/>
              </a:lnSpc>
              <a:buNone/>
            </a:pPr>
            <a:r>
              <a:rPr lang="en-US" sz="1400" dirty="0">
                <a:solidFill>
                  <a:srgbClr val="F6ECD8"/>
                </a:solidFill>
                <a:latin typeface="Segoe UI" pitchFamily="34" charset="0"/>
                <a:ea typeface="Segoe UI" pitchFamily="34" charset="-122"/>
                <a:cs typeface="Segoe UI" pitchFamily="34" charset="-120"/>
              </a:rPr>
              <a:t>Tổng hợp toàn bộ luật đã học, thử thách cuối</a:t>
            </a:r>
            <a:endParaRPr lang="en-US" sz="1400" dirty="0"/>
          </a:p>
        </p:txBody>
      </p:sp>
      <p:sp>
        <p:nvSpPr>
          <p:cNvPr id="30" name="Text 28"/>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31" name="Text 29"/>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03 · THIẾT KẾ MÀN CHƠI</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Đường cong độ khó</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pic>
        <p:nvPicPr>
          <p:cNvPr id="5" name="Image 0" descr="C:\Users\LAP17257\AppData\Local\Temp\claude\c--Users-LAP17257-OneDrive---VNG-Group-JSC-Documents-Mahjong-x-Block\41d87727-9b1f-40ca-a02d-f00006e694c3\scratchpad\deck_chart_diff.png">    </p:cNvPr>
          <p:cNvPicPr>
            <a:picLocks noChangeAspect="1"/>
          </p:cNvPicPr>
          <p:nvPr/>
        </p:nvPicPr>
        <p:blipFill>
          <a:blip r:embed="rId2"/>
          <a:stretch>
            <a:fillRect/>
          </a:stretch>
        </p:blipFill>
        <p:spPr>
          <a:xfrm>
            <a:off x="685800" y="1783080"/>
            <a:ext cx="7680960" cy="2990088"/>
          </a:xfrm>
          <a:prstGeom prst="rect">
            <a:avLst/>
          </a:prstGeom>
        </p:spPr>
      </p:pic>
      <p:sp>
        <p:nvSpPr>
          <p:cNvPr id="6" name="Text 3"/>
          <p:cNvSpPr/>
          <p:nvPr/>
        </p:nvSpPr>
        <p:spPr>
          <a:xfrm>
            <a:off x="822960" y="4983480"/>
            <a:ext cx="10545775" cy="320040"/>
          </a:xfrm>
          <a:prstGeom prst="rect">
            <a:avLst/>
          </a:prstGeom>
          <a:noFill/>
          <a:ln/>
        </p:spPr>
        <p:txBody>
          <a:bodyPr wrap="square" rtlCol="0" anchor="ctr"/>
          <a:lstStyle/>
          <a:p>
            <a:pPr indent="0" marL="0">
              <a:buNone/>
            </a:pPr>
            <a:r>
              <a:rPr lang="en-US" sz="1250" dirty="0">
                <a:solidFill>
                  <a:srgbClr val="C9BAA0"/>
                </a:solidFill>
                <a:latin typeface="Segoe UI" pitchFamily="34" charset="0"/>
                <a:ea typeface="Segoe UI" pitchFamily="34" charset="-122"/>
                <a:cs typeface="Segoe UI" pitchFamily="34" charset="-120"/>
              </a:rPr>
              <a:t>•  Điểm tổng hợp: cỡ bàn + số nước lời giải + độ chật + số mặt quân + cơ chế đặc biệt + độ phức tạp mục tiêu.</a:t>
            </a:r>
            <a:endParaRPr lang="en-US" sz="1250" dirty="0"/>
          </a:p>
        </p:txBody>
      </p:sp>
      <p:sp>
        <p:nvSpPr>
          <p:cNvPr id="7" name="Text 4"/>
          <p:cNvSpPr/>
          <p:nvPr/>
        </p:nvSpPr>
        <p:spPr>
          <a:xfrm>
            <a:off x="822960" y="5330952"/>
            <a:ext cx="10545775" cy="320040"/>
          </a:xfrm>
          <a:prstGeom prst="rect">
            <a:avLst/>
          </a:prstGeom>
          <a:noFill/>
          <a:ln/>
        </p:spPr>
        <p:txBody>
          <a:bodyPr wrap="square" rtlCol="0" anchor="ctr"/>
          <a:lstStyle/>
          <a:p>
            <a:pPr indent="0" marL="0">
              <a:buNone/>
            </a:pPr>
            <a:r>
              <a:rPr lang="en-US" sz="1250" dirty="0">
                <a:solidFill>
                  <a:srgbClr val="C9BAA0"/>
                </a:solidFill>
                <a:latin typeface="Segoe UI" pitchFamily="34" charset="0"/>
                <a:ea typeface="Segoe UI" pitchFamily="34" charset="-122"/>
                <a:cs typeface="Segoe UI" pitchFamily="34" charset="-120"/>
              </a:rPr>
              <a:t>•  Nhịp sawtooth rõ ràng — mỗi đầu chương đều "thở" sau đỉnh chương trước.</a:t>
            </a:r>
            <a:endParaRPr lang="en-US" sz="1250" dirty="0"/>
          </a:p>
        </p:txBody>
      </p:sp>
      <p:sp>
        <p:nvSpPr>
          <p:cNvPr id="8" name="Text 5"/>
          <p:cNvSpPr/>
          <p:nvPr/>
        </p:nvSpPr>
        <p:spPr>
          <a:xfrm>
            <a:off x="822960" y="5678424"/>
            <a:ext cx="10545775" cy="320040"/>
          </a:xfrm>
          <a:prstGeom prst="rect">
            <a:avLst/>
          </a:prstGeom>
          <a:noFill/>
          <a:ln/>
        </p:spPr>
        <p:txBody>
          <a:bodyPr wrap="square" rtlCol="0" anchor="ctr"/>
          <a:lstStyle/>
          <a:p>
            <a:pPr indent="0" marL="0">
              <a:buNone/>
            </a:pPr>
            <a:r>
              <a:rPr lang="en-US" sz="1250" dirty="0">
                <a:solidFill>
                  <a:srgbClr val="C9BAA0"/>
                </a:solidFill>
                <a:latin typeface="Segoe UI" pitchFamily="34" charset="0"/>
                <a:ea typeface="Segoe UI" pitchFamily="34" charset="-122"/>
                <a:cs typeface="Segoe UI" pitchFamily="34" charset="-120"/>
              </a:rPr>
              <a:t>•  Lv30 "Chapter Final Exam" là màn khó nhất toàn game (điểm 50/50).</a:t>
            </a:r>
            <a:endParaRPr lang="en-US" sz="1250" dirty="0"/>
          </a:p>
        </p:txBody>
      </p:sp>
      <p:sp>
        <p:nvSpPr>
          <p:cNvPr id="9" name="Text 6"/>
          <p:cNvSpPr/>
          <p:nvPr/>
        </p:nvSpPr>
        <p:spPr>
          <a:xfrm>
            <a:off x="822960" y="6025896"/>
            <a:ext cx="10545775" cy="320040"/>
          </a:xfrm>
          <a:prstGeom prst="rect">
            <a:avLst/>
          </a:prstGeom>
          <a:noFill/>
          <a:ln/>
        </p:spPr>
        <p:txBody>
          <a:bodyPr wrap="square" rtlCol="0" anchor="ctr"/>
          <a:lstStyle/>
          <a:p>
            <a:pPr indent="0" marL="0">
              <a:buNone/>
            </a:pPr>
            <a:r>
              <a:rPr lang="en-US" sz="1250" dirty="0">
                <a:solidFill>
                  <a:srgbClr val="C9BAA0"/>
                </a:solidFill>
                <a:latin typeface="Segoe UI" pitchFamily="34" charset="0"/>
                <a:ea typeface="Segoe UI" pitchFamily="34" charset="-122"/>
                <a:cs typeface="Segoe UI" pitchFamily="34" charset="-120"/>
              </a:rPr>
              <a:t>•  Lv49→50 hơi dốc đứng — điểm để cân lại nếu muốn mượt hơn.</a:t>
            </a:r>
            <a:endParaRPr lang="en-US" sz="1250" dirty="0"/>
          </a:p>
        </p:txBody>
      </p:sp>
      <p:sp>
        <p:nvSpPr>
          <p:cNvPr id="10" name="Text 7"/>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11" name="Text 8"/>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10</a:t>
            </a:r>
            <a:endParaRPr lang="en-US" sz="1000" dirty="0"/>
          </a:p>
        </p:txBody>
      </p:sp>
      <p:sp>
        <p:nvSpPr>
          <p:cNvPr id="12" name="Text 9"/>
          <p:cNvSpPr/>
          <p:nvPr/>
        </p:nvSpPr>
        <p:spPr>
          <a:xfrm>
            <a:off x="3657600" y="6400800"/>
            <a:ext cx="4876495" cy="320040"/>
          </a:xfrm>
          <a:prstGeom prst="rect">
            <a:avLst/>
          </a:prstGeom>
          <a:noFill/>
          <a:ln/>
        </p:spPr>
        <p:txBody>
          <a:bodyPr wrap="square" rtlCol="0" anchor="ctr"/>
          <a:lstStyle/>
          <a:p>
            <a:pPr algn="ctr" indent="0" marL="0">
              <a:buNone/>
            </a:pPr>
            <a:r>
              <a:rPr lang="en-US" sz="1000" spc="100" kern="0" dirty="0">
                <a:solidFill>
                  <a:srgbClr val="C9BAA0"/>
                </a:solidFill>
                <a:latin typeface="Segoe UI" pitchFamily="34" charset="0"/>
                <a:ea typeface="Segoe UI" pitchFamily="34" charset="-122"/>
                <a:cs typeface="Segoe UI" pitchFamily="34" charset="-120"/>
              </a:rPr>
              <a:t>NGUỒN: 50 MÀN THẬT, TỰ-VERIFY QUA SELF-TEST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04 · META &amp; KINH TẾ</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Vòng lặp Xu</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sp>
        <p:nvSpPr>
          <p:cNvPr id="5" name="Shape 3"/>
          <p:cNvSpPr/>
          <p:nvPr/>
        </p:nvSpPr>
        <p:spPr>
          <a:xfrm>
            <a:off x="822960" y="1965960"/>
            <a:ext cx="1874520" cy="1371600"/>
          </a:xfrm>
          <a:prstGeom prst="roundRect">
            <a:avLst>
              <a:gd name="adj" fmla="val 4000"/>
            </a:avLst>
          </a:prstGeom>
          <a:solidFill>
            <a:srgbClr val="241A10">
              <a:alpha val="90000"/>
            </a:srgbClr>
          </a:solidFill>
          <a:ln w="9525">
            <a:solidFill>
              <a:srgbClr val="E8B64C">
                <a:alpha val="55000"/>
              </a:srgbClr>
            </a:solidFill>
            <a:prstDash val="solid"/>
          </a:ln>
        </p:spPr>
      </p:sp>
      <p:sp>
        <p:nvSpPr>
          <p:cNvPr id="6" name="Text 4"/>
          <p:cNvSpPr/>
          <p:nvPr/>
        </p:nvSpPr>
        <p:spPr>
          <a:xfrm>
            <a:off x="914400" y="2103120"/>
            <a:ext cx="1691640" cy="1097280"/>
          </a:xfrm>
          <a:prstGeom prst="rect">
            <a:avLst/>
          </a:prstGeom>
          <a:noFill/>
          <a:ln/>
        </p:spPr>
        <p:txBody>
          <a:bodyPr wrap="square" rtlCol="0" anchor="ctr"/>
          <a:lstStyle/>
          <a:p>
            <a:pPr algn="ctr" indent="0" marL="0">
              <a:lnSpc>
                <a:spcPct val="120000"/>
              </a:lnSpc>
              <a:buNone/>
            </a:pPr>
            <a:r>
              <a:rPr lang="en-US" sz="1300" dirty="0">
                <a:solidFill>
                  <a:srgbClr val="F6ECD8"/>
                </a:solidFill>
                <a:latin typeface="Segoe UI" pitchFamily="34" charset="0"/>
                <a:ea typeface="Segoe UI" pitchFamily="34" charset="-122"/>
                <a:cs typeface="Segoe UI" pitchFamily="34" charset="-120"/>
              </a:rPr>
              <a:t>Thắng màn</a:t>
            </a:r>
            <a:endParaRPr lang="en-US" sz="1300" dirty="0"/>
          </a:p>
          <a:p>
            <a:pPr algn="ctr" indent="0" marL="0">
              <a:lnSpc>
                <a:spcPct val="120000"/>
              </a:lnSpc>
              <a:buNone/>
            </a:pPr>
            <a:r>
              <a:rPr lang="en-US" sz="1300" dirty="0">
                <a:solidFill>
                  <a:srgbClr val="F6ECD8"/>
                </a:solidFill>
                <a:latin typeface="Segoe UI" pitchFamily="34" charset="0"/>
                <a:ea typeface="Segoe UI" pitchFamily="34" charset="-122"/>
                <a:cs typeface="Segoe UI" pitchFamily="34" charset="-120"/>
              </a:rPr>
              <a:t>(lần đầu)</a:t>
            </a:r>
            <a:endParaRPr lang="en-US" sz="1300" dirty="0"/>
          </a:p>
        </p:txBody>
      </p:sp>
      <p:sp>
        <p:nvSpPr>
          <p:cNvPr id="7" name="Text 5"/>
          <p:cNvSpPr/>
          <p:nvPr/>
        </p:nvSpPr>
        <p:spPr>
          <a:xfrm>
            <a:off x="2697480" y="2377440"/>
            <a:ext cx="293294" cy="548640"/>
          </a:xfrm>
          <a:prstGeom prst="rect">
            <a:avLst/>
          </a:prstGeom>
          <a:noFill/>
          <a:ln/>
        </p:spPr>
        <p:txBody>
          <a:bodyPr wrap="square" rtlCol="0" anchor="ctr"/>
          <a:lstStyle/>
          <a:p>
            <a:pPr algn="ctr" indent="0" marL="0">
              <a:buNone/>
            </a:pPr>
            <a:r>
              <a:rPr lang="en-US" sz="2200" dirty="0">
                <a:solidFill>
                  <a:srgbClr val="E8B64C"/>
                </a:solidFill>
                <a:latin typeface="Georgia" pitchFamily="34" charset="0"/>
                <a:ea typeface="Georgia" pitchFamily="34" charset="-122"/>
                <a:cs typeface="Georgia" pitchFamily="34" charset="-120"/>
              </a:rPr>
              <a:t>→</a:t>
            </a:r>
            <a:endParaRPr lang="en-US" sz="2200" dirty="0"/>
          </a:p>
        </p:txBody>
      </p:sp>
      <p:sp>
        <p:nvSpPr>
          <p:cNvPr id="8" name="Shape 6"/>
          <p:cNvSpPr/>
          <p:nvPr/>
        </p:nvSpPr>
        <p:spPr>
          <a:xfrm>
            <a:off x="2990774" y="1965960"/>
            <a:ext cx="1874520" cy="1371600"/>
          </a:xfrm>
          <a:prstGeom prst="roundRect">
            <a:avLst>
              <a:gd name="adj" fmla="val 4000"/>
            </a:avLst>
          </a:prstGeom>
          <a:solidFill>
            <a:srgbClr val="241A10">
              <a:alpha val="90000"/>
            </a:srgbClr>
          </a:solidFill>
          <a:ln w="9525">
            <a:solidFill>
              <a:srgbClr val="E8B64C">
                <a:alpha val="55000"/>
              </a:srgbClr>
            </a:solidFill>
            <a:prstDash val="solid"/>
          </a:ln>
        </p:spPr>
      </p:sp>
      <p:sp>
        <p:nvSpPr>
          <p:cNvPr id="9" name="Text 7"/>
          <p:cNvSpPr/>
          <p:nvPr/>
        </p:nvSpPr>
        <p:spPr>
          <a:xfrm>
            <a:off x="3082214" y="2103120"/>
            <a:ext cx="1691640" cy="1097280"/>
          </a:xfrm>
          <a:prstGeom prst="rect">
            <a:avLst/>
          </a:prstGeom>
          <a:noFill/>
          <a:ln/>
        </p:spPr>
        <p:txBody>
          <a:bodyPr wrap="square" rtlCol="0" anchor="ctr"/>
          <a:lstStyle/>
          <a:p>
            <a:pPr algn="ctr" indent="0" marL="0">
              <a:lnSpc>
                <a:spcPct val="120000"/>
              </a:lnSpc>
              <a:buNone/>
            </a:pPr>
            <a:r>
              <a:rPr lang="en-US" sz="1300" dirty="0">
                <a:solidFill>
                  <a:srgbClr val="F6ECD8"/>
                </a:solidFill>
                <a:latin typeface="Segoe UI" pitchFamily="34" charset="0"/>
                <a:ea typeface="Segoe UI" pitchFamily="34" charset="-122"/>
                <a:cs typeface="Segoe UI" pitchFamily="34" charset="-120"/>
              </a:rPr>
              <a:t>Sàn theo</a:t>
            </a:r>
            <a:endParaRPr lang="en-US" sz="1300" dirty="0"/>
          </a:p>
          <a:p>
            <a:pPr algn="ctr" indent="0" marL="0">
              <a:lnSpc>
                <a:spcPct val="120000"/>
              </a:lnSpc>
              <a:buNone/>
            </a:pPr>
            <a:r>
              <a:rPr lang="en-US" sz="1300" dirty="0">
                <a:solidFill>
                  <a:srgbClr val="F6ECD8"/>
                </a:solidFill>
                <a:latin typeface="Segoe UI" pitchFamily="34" charset="0"/>
                <a:ea typeface="Segoe UI" pitchFamily="34" charset="-122"/>
                <a:cs typeface="Segoe UI" pitchFamily="34" charset="-120"/>
              </a:rPr>
              <a:t>log(màn)</a:t>
            </a:r>
            <a:endParaRPr lang="en-US" sz="1300" dirty="0"/>
          </a:p>
        </p:txBody>
      </p:sp>
      <p:sp>
        <p:nvSpPr>
          <p:cNvPr id="10" name="Text 8"/>
          <p:cNvSpPr/>
          <p:nvPr/>
        </p:nvSpPr>
        <p:spPr>
          <a:xfrm>
            <a:off x="4865294" y="2377440"/>
            <a:ext cx="293294" cy="548640"/>
          </a:xfrm>
          <a:prstGeom prst="rect">
            <a:avLst/>
          </a:prstGeom>
          <a:noFill/>
          <a:ln/>
        </p:spPr>
        <p:txBody>
          <a:bodyPr wrap="square" rtlCol="0" anchor="ctr"/>
          <a:lstStyle/>
          <a:p>
            <a:pPr algn="ctr" indent="0" marL="0">
              <a:buNone/>
            </a:pPr>
            <a:r>
              <a:rPr lang="en-US" sz="2200" dirty="0">
                <a:solidFill>
                  <a:srgbClr val="E8B64C"/>
                </a:solidFill>
                <a:latin typeface="Georgia" pitchFamily="34" charset="0"/>
                <a:ea typeface="Georgia" pitchFamily="34" charset="-122"/>
                <a:cs typeface="Georgia" pitchFamily="34" charset="-120"/>
              </a:rPr>
              <a:t>→</a:t>
            </a:r>
            <a:endParaRPr lang="en-US" sz="2200" dirty="0"/>
          </a:p>
        </p:txBody>
      </p:sp>
      <p:sp>
        <p:nvSpPr>
          <p:cNvPr id="11" name="Shape 9"/>
          <p:cNvSpPr/>
          <p:nvPr/>
        </p:nvSpPr>
        <p:spPr>
          <a:xfrm>
            <a:off x="5158588" y="1965960"/>
            <a:ext cx="1874520" cy="1371600"/>
          </a:xfrm>
          <a:prstGeom prst="roundRect">
            <a:avLst>
              <a:gd name="adj" fmla="val 4000"/>
            </a:avLst>
          </a:prstGeom>
          <a:solidFill>
            <a:srgbClr val="241A10">
              <a:alpha val="90000"/>
            </a:srgbClr>
          </a:solidFill>
          <a:ln w="9525">
            <a:solidFill>
              <a:srgbClr val="E8B64C">
                <a:alpha val="55000"/>
              </a:srgbClr>
            </a:solidFill>
            <a:prstDash val="solid"/>
          </a:ln>
        </p:spPr>
      </p:sp>
      <p:sp>
        <p:nvSpPr>
          <p:cNvPr id="12" name="Text 10"/>
          <p:cNvSpPr/>
          <p:nvPr/>
        </p:nvSpPr>
        <p:spPr>
          <a:xfrm>
            <a:off x="5250028" y="2103120"/>
            <a:ext cx="1691640" cy="1097280"/>
          </a:xfrm>
          <a:prstGeom prst="rect">
            <a:avLst/>
          </a:prstGeom>
          <a:noFill/>
          <a:ln/>
        </p:spPr>
        <p:txBody>
          <a:bodyPr wrap="square" rtlCol="0" anchor="ctr"/>
          <a:lstStyle/>
          <a:p>
            <a:pPr algn="ctr" indent="0" marL="0">
              <a:lnSpc>
                <a:spcPct val="120000"/>
              </a:lnSpc>
              <a:buNone/>
            </a:pPr>
            <a:r>
              <a:rPr lang="en-US" sz="1300" dirty="0">
                <a:solidFill>
                  <a:srgbClr val="F6ECD8"/>
                </a:solidFill>
                <a:latin typeface="Segoe UI" pitchFamily="34" charset="0"/>
                <a:ea typeface="Segoe UI" pitchFamily="34" charset="-122"/>
                <a:cs typeface="Segoe UI" pitchFamily="34" charset="-120"/>
              </a:rPr>
              <a:t>+ lượt dư ×2</a:t>
            </a:r>
            <a:endParaRPr lang="en-US" sz="1300" dirty="0"/>
          </a:p>
          <a:p>
            <a:pPr algn="ctr" indent="0" marL="0">
              <a:lnSpc>
                <a:spcPct val="120000"/>
              </a:lnSpc>
              <a:buNone/>
            </a:pPr>
            <a:r>
              <a:rPr lang="en-US" sz="1300" dirty="0">
                <a:solidFill>
                  <a:srgbClr val="F6ECD8"/>
                </a:solidFill>
                <a:latin typeface="Segoe UI" pitchFamily="34" charset="0"/>
                <a:ea typeface="Segoe UI" pitchFamily="34" charset="-122"/>
                <a:cs typeface="Segoe UI" pitchFamily="34" charset="-120"/>
              </a:rPr>
              <a:t>+ không dùng booster</a:t>
            </a:r>
            <a:endParaRPr lang="en-US" sz="1300" dirty="0"/>
          </a:p>
        </p:txBody>
      </p:sp>
      <p:sp>
        <p:nvSpPr>
          <p:cNvPr id="13" name="Text 11"/>
          <p:cNvSpPr/>
          <p:nvPr/>
        </p:nvSpPr>
        <p:spPr>
          <a:xfrm>
            <a:off x="7033108" y="2377440"/>
            <a:ext cx="293294" cy="548640"/>
          </a:xfrm>
          <a:prstGeom prst="rect">
            <a:avLst/>
          </a:prstGeom>
          <a:noFill/>
          <a:ln/>
        </p:spPr>
        <p:txBody>
          <a:bodyPr wrap="square" rtlCol="0" anchor="ctr"/>
          <a:lstStyle/>
          <a:p>
            <a:pPr algn="ctr" indent="0" marL="0">
              <a:buNone/>
            </a:pPr>
            <a:r>
              <a:rPr lang="en-US" sz="2200" dirty="0">
                <a:solidFill>
                  <a:srgbClr val="E8B64C"/>
                </a:solidFill>
                <a:latin typeface="Georgia" pitchFamily="34" charset="0"/>
                <a:ea typeface="Georgia" pitchFamily="34" charset="-122"/>
                <a:cs typeface="Georgia" pitchFamily="34" charset="-120"/>
              </a:rPr>
              <a:t>→</a:t>
            </a:r>
            <a:endParaRPr lang="en-US" sz="2200" dirty="0"/>
          </a:p>
        </p:txBody>
      </p:sp>
      <p:sp>
        <p:nvSpPr>
          <p:cNvPr id="14" name="Shape 12"/>
          <p:cNvSpPr/>
          <p:nvPr/>
        </p:nvSpPr>
        <p:spPr>
          <a:xfrm>
            <a:off x="7326401" y="1965960"/>
            <a:ext cx="1874520" cy="1371600"/>
          </a:xfrm>
          <a:prstGeom prst="roundRect">
            <a:avLst>
              <a:gd name="adj" fmla="val 4000"/>
            </a:avLst>
          </a:prstGeom>
          <a:solidFill>
            <a:srgbClr val="241A10">
              <a:alpha val="90000"/>
            </a:srgbClr>
          </a:solidFill>
          <a:ln w="9525">
            <a:solidFill>
              <a:srgbClr val="E8B64C">
                <a:alpha val="55000"/>
              </a:srgbClr>
            </a:solidFill>
            <a:prstDash val="solid"/>
          </a:ln>
        </p:spPr>
      </p:sp>
      <p:sp>
        <p:nvSpPr>
          <p:cNvPr id="15" name="Text 13"/>
          <p:cNvSpPr/>
          <p:nvPr/>
        </p:nvSpPr>
        <p:spPr>
          <a:xfrm>
            <a:off x="7417841" y="2103120"/>
            <a:ext cx="1691640" cy="1097280"/>
          </a:xfrm>
          <a:prstGeom prst="rect">
            <a:avLst/>
          </a:prstGeom>
          <a:noFill/>
          <a:ln/>
        </p:spPr>
        <p:txBody>
          <a:bodyPr wrap="square" rtlCol="0" anchor="ctr"/>
          <a:lstStyle/>
          <a:p>
            <a:pPr algn="ctr" indent="0" marL="0">
              <a:lnSpc>
                <a:spcPct val="120000"/>
              </a:lnSpc>
              <a:buNone/>
            </a:pPr>
            <a:r>
              <a:rPr lang="en-US" sz="1300" dirty="0">
                <a:solidFill>
                  <a:srgbClr val="F6ECD8"/>
                </a:solidFill>
                <a:latin typeface="Segoe UI" pitchFamily="34" charset="0"/>
                <a:ea typeface="Segoe UI" pitchFamily="34" charset="-122"/>
                <a:cs typeface="Segoe UI" pitchFamily="34" charset="-120"/>
              </a:rPr>
              <a:t>×2 ở màn</a:t>
            </a:r>
            <a:endParaRPr lang="en-US" sz="1300" dirty="0"/>
          </a:p>
          <a:p>
            <a:pPr algn="ctr" indent="0" marL="0">
              <a:lnSpc>
                <a:spcPct val="120000"/>
              </a:lnSpc>
              <a:buNone/>
            </a:pPr>
            <a:r>
              <a:rPr lang="en-US" sz="1300" dirty="0">
                <a:solidFill>
                  <a:srgbClr val="F6ECD8"/>
                </a:solidFill>
                <a:latin typeface="Segoe UI" pitchFamily="34" charset="0"/>
                <a:ea typeface="Segoe UI" pitchFamily="34" charset="-122"/>
                <a:cs typeface="Segoe UI" pitchFamily="34" charset="-120"/>
              </a:rPr>
              <a:t>chốt chương</a:t>
            </a:r>
            <a:endParaRPr lang="en-US" sz="1300" dirty="0"/>
          </a:p>
        </p:txBody>
      </p:sp>
      <p:sp>
        <p:nvSpPr>
          <p:cNvPr id="16" name="Text 14"/>
          <p:cNvSpPr/>
          <p:nvPr/>
        </p:nvSpPr>
        <p:spPr>
          <a:xfrm>
            <a:off x="9200921" y="2377440"/>
            <a:ext cx="293294" cy="548640"/>
          </a:xfrm>
          <a:prstGeom prst="rect">
            <a:avLst/>
          </a:prstGeom>
          <a:noFill/>
          <a:ln/>
        </p:spPr>
        <p:txBody>
          <a:bodyPr wrap="square" rtlCol="0" anchor="ctr"/>
          <a:lstStyle/>
          <a:p>
            <a:pPr algn="ctr" indent="0" marL="0">
              <a:buNone/>
            </a:pPr>
            <a:r>
              <a:rPr lang="en-US" sz="2200" dirty="0">
                <a:solidFill>
                  <a:srgbClr val="E8B64C"/>
                </a:solidFill>
                <a:latin typeface="Georgia" pitchFamily="34" charset="0"/>
                <a:ea typeface="Georgia" pitchFamily="34" charset="-122"/>
                <a:cs typeface="Georgia" pitchFamily="34" charset="-120"/>
              </a:rPr>
              <a:t>→</a:t>
            </a:r>
            <a:endParaRPr lang="en-US" sz="2200" dirty="0"/>
          </a:p>
        </p:txBody>
      </p:sp>
      <p:sp>
        <p:nvSpPr>
          <p:cNvPr id="17" name="Shape 15"/>
          <p:cNvSpPr/>
          <p:nvPr/>
        </p:nvSpPr>
        <p:spPr>
          <a:xfrm>
            <a:off x="9494215" y="1965960"/>
            <a:ext cx="1874520" cy="1371600"/>
          </a:xfrm>
          <a:prstGeom prst="roundRect">
            <a:avLst>
              <a:gd name="adj" fmla="val 4000"/>
            </a:avLst>
          </a:prstGeom>
          <a:solidFill>
            <a:srgbClr val="241A10">
              <a:alpha val="90000"/>
            </a:srgbClr>
          </a:solidFill>
          <a:ln w="9525">
            <a:solidFill>
              <a:srgbClr val="E8B64C">
                <a:alpha val="55000"/>
              </a:srgbClr>
            </a:solidFill>
            <a:prstDash val="solid"/>
          </a:ln>
        </p:spPr>
      </p:sp>
      <p:sp>
        <p:nvSpPr>
          <p:cNvPr id="18" name="Text 16"/>
          <p:cNvSpPr/>
          <p:nvPr/>
        </p:nvSpPr>
        <p:spPr>
          <a:xfrm>
            <a:off x="9585655" y="2103120"/>
            <a:ext cx="1691640" cy="1097280"/>
          </a:xfrm>
          <a:prstGeom prst="rect">
            <a:avLst/>
          </a:prstGeom>
          <a:noFill/>
          <a:ln/>
        </p:spPr>
        <p:txBody>
          <a:bodyPr wrap="square" rtlCol="0" anchor="ctr"/>
          <a:lstStyle/>
          <a:p>
            <a:pPr algn="ctr" indent="0" marL="0">
              <a:lnSpc>
                <a:spcPct val="120000"/>
              </a:lnSpc>
              <a:buNone/>
            </a:pPr>
            <a:r>
              <a:rPr lang="en-US" sz="1300" dirty="0">
                <a:solidFill>
                  <a:srgbClr val="F6ECD8"/>
                </a:solidFill>
                <a:latin typeface="Segoe UI" pitchFamily="34" charset="0"/>
                <a:ea typeface="Segoe UI" pitchFamily="34" charset="-122"/>
                <a:cs typeface="Segoe UI" pitchFamily="34" charset="-120"/>
              </a:rPr>
              <a:t>Mua skin /</a:t>
            </a:r>
            <a:endParaRPr lang="en-US" sz="1300" dirty="0"/>
          </a:p>
          <a:p>
            <a:pPr algn="ctr" indent="0" marL="0">
              <a:lnSpc>
                <a:spcPct val="120000"/>
              </a:lnSpc>
              <a:buNone/>
            </a:pPr>
            <a:r>
              <a:rPr lang="en-US" sz="1300" dirty="0">
                <a:solidFill>
                  <a:srgbClr val="F6ECD8"/>
                </a:solidFill>
                <a:latin typeface="Segoe UI" pitchFamily="34" charset="0"/>
                <a:ea typeface="Segoe UI" pitchFamily="34" charset="-122"/>
                <a:cs typeface="Segoe UI" pitchFamily="34" charset="-120"/>
              </a:rPr>
              <a:t>nâng cấp booster</a:t>
            </a:r>
            <a:endParaRPr lang="en-US" sz="1300" dirty="0"/>
          </a:p>
        </p:txBody>
      </p:sp>
      <p:sp>
        <p:nvSpPr>
          <p:cNvPr id="19" name="Text 17"/>
          <p:cNvSpPr/>
          <p:nvPr/>
        </p:nvSpPr>
        <p:spPr>
          <a:xfrm>
            <a:off x="822960" y="3611880"/>
            <a:ext cx="10545775" cy="457200"/>
          </a:xfrm>
          <a:prstGeom prst="rect">
            <a:avLst/>
          </a:prstGeom>
          <a:noFill/>
          <a:ln/>
        </p:spPr>
        <p:txBody>
          <a:bodyPr wrap="square" rtlCol="0" anchor="ctr"/>
          <a:lstStyle/>
          <a:p>
            <a:pPr algn="ctr" indent="0" marL="0">
              <a:buNone/>
            </a:pPr>
            <a:r>
              <a:rPr lang="en-US" sz="1600" dirty="0">
                <a:solidFill>
                  <a:srgbClr val="E8B64C"/>
                </a:solidFill>
                <a:latin typeface="Consolas" pitchFamily="34" charset="0"/>
                <a:ea typeface="Consolas" pitchFamily="34" charset="-122"/>
                <a:cs typeface="Consolas" pitchFamily="34" charset="-120"/>
              </a:rPr>
              <a:t>round(10 × ln(màn + 2))</a:t>
            </a:r>
            <a:endParaRPr lang="en-US" sz="1600" dirty="0"/>
          </a:p>
        </p:txBody>
      </p:sp>
      <p:sp>
        <p:nvSpPr>
          <p:cNvPr id="20" name="Text 18"/>
          <p:cNvSpPr/>
          <p:nvPr/>
        </p:nvSpPr>
        <p:spPr>
          <a:xfrm>
            <a:off x="822960" y="4114800"/>
            <a:ext cx="10545775" cy="548640"/>
          </a:xfrm>
          <a:prstGeom prst="rect">
            <a:avLst/>
          </a:prstGeom>
          <a:noFill/>
          <a:ln/>
        </p:spPr>
        <p:txBody>
          <a:bodyPr wrap="square" rtlCol="0" anchor="ctr"/>
          <a:lstStyle/>
          <a:p>
            <a:pPr algn="ctr" indent="0" marL="0">
              <a:lnSpc>
                <a:spcPct val="130000"/>
              </a:lnSpc>
              <a:buNone/>
            </a:pPr>
            <a:r>
              <a:rPr lang="en-US" sz="1350" dirty="0">
                <a:solidFill>
                  <a:srgbClr val="C9BAA0"/>
                </a:solidFill>
                <a:latin typeface="Segoe UI" pitchFamily="34" charset="0"/>
                <a:ea typeface="Segoe UI" pitchFamily="34" charset="-122"/>
                <a:cs typeface="Segoe UI" pitchFamily="34" charset="-120"/>
              </a:rPr>
              <a:t>Sàn Xu tăng nhanh ở đầu game rồi chậm dần: ~11 Xu (màn 1) → ~40 Xu (màn 50). Chơi lại màn cũ luôn ra 0 Xu — chặn cày.</a:t>
            </a:r>
            <a:endParaRPr lang="en-US" sz="1350" dirty="0"/>
          </a:p>
        </p:txBody>
      </p:sp>
      <p:sp>
        <p:nvSpPr>
          <p:cNvPr id="21" name="Shape 19"/>
          <p:cNvSpPr/>
          <p:nvPr/>
        </p:nvSpPr>
        <p:spPr>
          <a:xfrm>
            <a:off x="822960" y="4892040"/>
            <a:ext cx="3332378" cy="1234440"/>
          </a:xfrm>
          <a:prstGeom prst="roundRect">
            <a:avLst>
              <a:gd name="adj" fmla="val 4444"/>
            </a:avLst>
          </a:prstGeom>
          <a:solidFill>
            <a:srgbClr val="3A2A16">
              <a:alpha val="85000"/>
            </a:srgbClr>
          </a:solidFill>
          <a:ln w="9525">
            <a:solidFill>
              <a:srgbClr val="E8B64C">
                <a:alpha val="55000"/>
              </a:srgbClr>
            </a:solidFill>
            <a:prstDash val="solid"/>
          </a:ln>
        </p:spPr>
      </p:sp>
      <p:sp>
        <p:nvSpPr>
          <p:cNvPr id="22" name="Text 20"/>
          <p:cNvSpPr/>
          <p:nvPr/>
        </p:nvSpPr>
        <p:spPr>
          <a:xfrm>
            <a:off x="960120" y="4983480"/>
            <a:ext cx="3058058" cy="502920"/>
          </a:xfrm>
          <a:prstGeom prst="rect">
            <a:avLst/>
          </a:prstGeom>
          <a:noFill/>
          <a:ln/>
        </p:spPr>
        <p:txBody>
          <a:bodyPr wrap="square" rtlCol="0" anchor="ctr"/>
          <a:lstStyle/>
          <a:p>
            <a:pPr algn="ctr" indent="0" marL="0">
              <a:buNone/>
            </a:pPr>
            <a:r>
              <a:rPr lang="en-US" sz="2400" dirty="0">
                <a:solidFill>
                  <a:srgbClr val="E8B64C"/>
                </a:solidFill>
                <a:latin typeface="Georgia" pitchFamily="34" charset="0"/>
                <a:ea typeface="Georgia" pitchFamily="34" charset="-122"/>
                <a:cs typeface="Georgia" pitchFamily="34" charset="-120"/>
              </a:rPr>
              <a:t>899</a:t>
            </a:r>
            <a:endParaRPr lang="en-US" sz="2400" dirty="0"/>
          </a:p>
        </p:txBody>
      </p:sp>
      <p:sp>
        <p:nvSpPr>
          <p:cNvPr id="23" name="Text 21"/>
          <p:cNvSpPr/>
          <p:nvPr/>
        </p:nvSpPr>
        <p:spPr>
          <a:xfrm>
            <a:off x="960120" y="5486400"/>
            <a:ext cx="3058058" cy="548640"/>
          </a:xfrm>
          <a:prstGeom prst="rect">
            <a:avLst/>
          </a:prstGeom>
          <a:noFill/>
          <a:ln/>
        </p:spPr>
        <p:txBody>
          <a:bodyPr wrap="square" rtlCol="0" anchor="ctr"/>
          <a:lstStyle/>
          <a:p>
            <a:pPr algn="ctr" indent="0" marL="0">
              <a:lnSpc>
                <a:spcPct val="115000"/>
              </a:lnSpc>
              <a:buNone/>
            </a:pPr>
            <a:r>
              <a:rPr lang="en-US" sz="1100" dirty="0">
                <a:solidFill>
                  <a:srgbClr val="F6ECD8"/>
                </a:solidFill>
                <a:latin typeface="Segoe UI" pitchFamily="34" charset="0"/>
                <a:ea typeface="Segoe UI" pitchFamily="34" charset="-122"/>
                <a:cs typeface="Segoe UI" pitchFamily="34" charset="-120"/>
              </a:rPr>
              <a:t>Xu tối thiểu sau 30 màn</a:t>
            </a:r>
            <a:endParaRPr lang="en-US" sz="1100" dirty="0"/>
          </a:p>
          <a:p>
            <a:pPr algn="ctr" indent="0" marL="0">
              <a:lnSpc>
                <a:spcPct val="115000"/>
              </a:lnSpc>
              <a:buNone/>
            </a:pPr>
            <a:r>
              <a:rPr lang="en-US" sz="1100" dirty="0">
                <a:solidFill>
                  <a:srgbClr val="F6ECD8"/>
                </a:solidFill>
                <a:latin typeface="Segoe UI" pitchFamily="34" charset="0"/>
                <a:ea typeface="Segoe UI" pitchFamily="34" charset="-122"/>
                <a:cs typeface="Segoe UI" pitchFamily="34" charset="-120"/>
              </a:rPr>
              <a:t>(kể cả chơi tệ nhất)</a:t>
            </a:r>
            <a:endParaRPr lang="en-US" sz="1100" dirty="0"/>
          </a:p>
        </p:txBody>
      </p:sp>
      <p:sp>
        <p:nvSpPr>
          <p:cNvPr id="24" name="Shape 22"/>
          <p:cNvSpPr/>
          <p:nvPr/>
        </p:nvSpPr>
        <p:spPr>
          <a:xfrm>
            <a:off x="4429658" y="4892040"/>
            <a:ext cx="3332378" cy="1234440"/>
          </a:xfrm>
          <a:prstGeom prst="roundRect">
            <a:avLst>
              <a:gd name="adj" fmla="val 4444"/>
            </a:avLst>
          </a:prstGeom>
          <a:solidFill>
            <a:srgbClr val="3A2A16">
              <a:alpha val="85000"/>
            </a:srgbClr>
          </a:solidFill>
          <a:ln w="9525">
            <a:solidFill>
              <a:srgbClr val="E8B64C">
                <a:alpha val="55000"/>
              </a:srgbClr>
            </a:solidFill>
            <a:prstDash val="solid"/>
          </a:ln>
        </p:spPr>
      </p:sp>
      <p:sp>
        <p:nvSpPr>
          <p:cNvPr id="25" name="Text 23"/>
          <p:cNvSpPr/>
          <p:nvPr/>
        </p:nvSpPr>
        <p:spPr>
          <a:xfrm>
            <a:off x="4566818" y="4983480"/>
            <a:ext cx="3058058" cy="502920"/>
          </a:xfrm>
          <a:prstGeom prst="rect">
            <a:avLst/>
          </a:prstGeom>
          <a:noFill/>
          <a:ln/>
        </p:spPr>
        <p:txBody>
          <a:bodyPr wrap="square" rtlCol="0" anchor="ctr"/>
          <a:lstStyle/>
          <a:p>
            <a:pPr algn="ctr" indent="0" marL="0">
              <a:buNone/>
            </a:pPr>
            <a:r>
              <a:rPr lang="en-US" sz="2400" dirty="0">
                <a:solidFill>
                  <a:srgbClr val="E8B64C"/>
                </a:solidFill>
                <a:latin typeface="Georgia" pitchFamily="34" charset="0"/>
                <a:ea typeface="Georgia" pitchFamily="34" charset="-122"/>
                <a:cs typeface="Georgia" pitchFamily="34" charset="-120"/>
              </a:rPr>
              <a:t>895</a:t>
            </a:r>
            <a:endParaRPr lang="en-US" sz="2400" dirty="0"/>
          </a:p>
        </p:txBody>
      </p:sp>
      <p:sp>
        <p:nvSpPr>
          <p:cNvPr id="26" name="Text 24"/>
          <p:cNvSpPr/>
          <p:nvPr/>
        </p:nvSpPr>
        <p:spPr>
          <a:xfrm>
            <a:off x="4566818" y="5486400"/>
            <a:ext cx="3058058" cy="548640"/>
          </a:xfrm>
          <a:prstGeom prst="rect">
            <a:avLst/>
          </a:prstGeom>
          <a:noFill/>
          <a:ln/>
        </p:spPr>
        <p:txBody>
          <a:bodyPr wrap="square" rtlCol="0" anchor="ctr"/>
          <a:lstStyle/>
          <a:p>
            <a:pPr algn="ctr" indent="0" marL="0">
              <a:lnSpc>
                <a:spcPct val="115000"/>
              </a:lnSpc>
              <a:buNone/>
            </a:pPr>
            <a:r>
              <a:rPr lang="en-US" sz="1100" dirty="0">
                <a:solidFill>
                  <a:srgbClr val="F6ECD8"/>
                </a:solidFill>
                <a:latin typeface="Segoe UI" pitchFamily="34" charset="0"/>
                <a:ea typeface="Segoe UI" pitchFamily="34" charset="-122"/>
                <a:cs typeface="Segoe UI" pitchFamily="34" charset="-120"/>
              </a:rPr>
              <a:t>Giá skin rẻ nhất —</a:t>
            </a:r>
            <a:endParaRPr lang="en-US" sz="1100" dirty="0"/>
          </a:p>
          <a:p>
            <a:pPr algn="ctr" indent="0" marL="0">
              <a:lnSpc>
                <a:spcPct val="115000"/>
              </a:lnSpc>
              <a:buNone/>
            </a:pPr>
            <a:r>
              <a:rPr lang="en-US" sz="1100" dirty="0">
                <a:solidFill>
                  <a:srgbClr val="F6ECD8"/>
                </a:solidFill>
                <a:latin typeface="Segoe UI" pitchFamily="34" charset="0"/>
                <a:ea typeface="Segoe UI" pitchFamily="34" charset="-122"/>
                <a:cs typeface="Segoe UI" pitchFamily="34" charset="-120"/>
              </a:rPr>
              <a:t>luôn đủ mua ở màn 30</a:t>
            </a:r>
            <a:endParaRPr lang="en-US" sz="1100" dirty="0"/>
          </a:p>
        </p:txBody>
      </p:sp>
      <p:sp>
        <p:nvSpPr>
          <p:cNvPr id="27" name="Shape 25"/>
          <p:cNvSpPr/>
          <p:nvPr/>
        </p:nvSpPr>
        <p:spPr>
          <a:xfrm>
            <a:off x="8036357" y="4892040"/>
            <a:ext cx="3332378" cy="1234440"/>
          </a:xfrm>
          <a:prstGeom prst="roundRect">
            <a:avLst>
              <a:gd name="adj" fmla="val 4444"/>
            </a:avLst>
          </a:prstGeom>
          <a:solidFill>
            <a:srgbClr val="3A2A16">
              <a:alpha val="85000"/>
            </a:srgbClr>
          </a:solidFill>
          <a:ln w="9525">
            <a:solidFill>
              <a:srgbClr val="E8B64C">
                <a:alpha val="55000"/>
              </a:srgbClr>
            </a:solidFill>
            <a:prstDash val="solid"/>
          </a:ln>
        </p:spPr>
      </p:sp>
      <p:sp>
        <p:nvSpPr>
          <p:cNvPr id="28" name="Text 26"/>
          <p:cNvSpPr/>
          <p:nvPr/>
        </p:nvSpPr>
        <p:spPr>
          <a:xfrm>
            <a:off x="8173517" y="4983480"/>
            <a:ext cx="3058058" cy="502920"/>
          </a:xfrm>
          <a:prstGeom prst="rect">
            <a:avLst/>
          </a:prstGeom>
          <a:noFill/>
          <a:ln/>
        </p:spPr>
        <p:txBody>
          <a:bodyPr wrap="square" rtlCol="0" anchor="ctr"/>
          <a:lstStyle/>
          <a:p>
            <a:pPr algn="ctr" indent="0" marL="0">
              <a:buNone/>
            </a:pPr>
            <a:r>
              <a:rPr lang="en-US" sz="2400" dirty="0">
                <a:solidFill>
                  <a:srgbClr val="E8B64C"/>
                </a:solidFill>
                <a:latin typeface="Georgia" pitchFamily="34" charset="0"/>
                <a:ea typeface="Georgia" pitchFamily="34" charset="-122"/>
                <a:cs typeface="Georgia" pitchFamily="34" charset="-120"/>
              </a:rPr>
              <a:t>1,725 – 2,665</a:t>
            </a:r>
            <a:endParaRPr lang="en-US" sz="2400" dirty="0"/>
          </a:p>
        </p:txBody>
      </p:sp>
      <p:sp>
        <p:nvSpPr>
          <p:cNvPr id="29" name="Text 27"/>
          <p:cNvSpPr/>
          <p:nvPr/>
        </p:nvSpPr>
        <p:spPr>
          <a:xfrm>
            <a:off x="8173517" y="5486400"/>
            <a:ext cx="3058058" cy="548640"/>
          </a:xfrm>
          <a:prstGeom prst="rect">
            <a:avLst/>
          </a:prstGeom>
          <a:noFill/>
          <a:ln/>
        </p:spPr>
        <p:txBody>
          <a:bodyPr wrap="square" rtlCol="0" anchor="ctr"/>
          <a:lstStyle/>
          <a:p>
            <a:pPr algn="ctr" indent="0" marL="0">
              <a:lnSpc>
                <a:spcPct val="115000"/>
              </a:lnSpc>
              <a:buNone/>
            </a:pPr>
            <a:r>
              <a:rPr lang="en-US" sz="1100" dirty="0">
                <a:solidFill>
                  <a:srgbClr val="F6ECD8"/>
                </a:solidFill>
                <a:latin typeface="Segoe UI" pitchFamily="34" charset="0"/>
                <a:ea typeface="Segoe UI" pitchFamily="34" charset="-122"/>
                <a:cs typeface="Segoe UI" pitchFamily="34" charset="-120"/>
              </a:rPr>
              <a:t>Tổng Xu cả đời chơi</a:t>
            </a:r>
            <a:endParaRPr lang="en-US" sz="1100" dirty="0"/>
          </a:p>
          <a:p>
            <a:pPr algn="ctr" indent="0" marL="0">
              <a:lnSpc>
                <a:spcPct val="115000"/>
              </a:lnSpc>
              <a:buNone/>
            </a:pPr>
            <a:r>
              <a:rPr lang="en-US" sz="1100" dirty="0">
                <a:solidFill>
                  <a:srgbClr val="F6ECD8"/>
                </a:solidFill>
                <a:latin typeface="Segoe UI" pitchFamily="34" charset="0"/>
                <a:ea typeface="Segoe UI" pitchFamily="34" charset="-122"/>
                <a:cs typeface="Segoe UI" pitchFamily="34" charset="-120"/>
              </a:rPr>
              <a:t>(tệ nhất → tối ưu, 50 màn)</a:t>
            </a:r>
            <a:endParaRPr lang="en-US" sz="1100" dirty="0"/>
          </a:p>
        </p:txBody>
      </p:sp>
      <p:sp>
        <p:nvSpPr>
          <p:cNvPr id="30" name="Text 28"/>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31" name="Text 29"/>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04 · META &amp; KINH TẾ</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Đường cong Xu &amp; Cửa hàng</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pic>
        <p:nvPicPr>
          <p:cNvPr id="5" name="Image 0" descr="C:\Users\LAP17257\AppData\Local\Temp\claude\c--Users-LAP17257-OneDrive---VNG-Group-JSC-Documents-Mahjong-x-Block\41d87727-9b1f-40ca-a02d-f00006e694c3\scratchpad\deck_chart_xu.png">    </p:cNvPr>
          <p:cNvPicPr>
            <a:picLocks noChangeAspect="1"/>
          </p:cNvPicPr>
          <p:nvPr/>
        </p:nvPicPr>
        <p:blipFill>
          <a:blip r:embed="rId2"/>
          <a:stretch>
            <a:fillRect/>
          </a:stretch>
        </p:blipFill>
        <p:spPr>
          <a:xfrm>
            <a:off x="640080" y="1783080"/>
            <a:ext cx="6309360" cy="2450592"/>
          </a:xfrm>
          <a:prstGeom prst="rect">
            <a:avLst/>
          </a:prstGeom>
        </p:spPr>
      </p:pic>
      <p:pic>
        <p:nvPicPr>
          <p:cNvPr id="6" name="Image 1" descr="C:\Users\LAP17257\AppData\Local\Temp\claude\c--Users-LAP17257-OneDrive---VNG-Group-JSC-Documents-Mahjong-x-Block\41d87727-9b1f-40ca-a02d-f00006e694c3\scratchpad\deck_shop.png">    </p:cNvPr>
          <p:cNvPicPr>
            <a:picLocks noChangeAspect="1"/>
          </p:cNvPicPr>
          <p:nvPr/>
        </p:nvPicPr>
        <p:blipFill>
          <a:blip r:embed="rId3"/>
          <a:stretch>
            <a:fillRect/>
          </a:stretch>
        </p:blipFill>
        <p:spPr>
          <a:xfrm>
            <a:off x="7635240" y="1691640"/>
            <a:ext cx="2331720" cy="5001768"/>
          </a:xfrm>
          <a:prstGeom prst="rect">
            <a:avLst/>
          </a:prstGeom>
        </p:spPr>
      </p:pic>
      <p:sp>
        <p:nvSpPr>
          <p:cNvPr id="7" name="Text 3"/>
          <p:cNvSpPr/>
          <p:nvPr/>
        </p:nvSpPr>
        <p:spPr>
          <a:xfrm>
            <a:off x="822960" y="4434840"/>
            <a:ext cx="6309360" cy="457200"/>
          </a:xfrm>
          <a:prstGeom prst="rect">
            <a:avLst/>
          </a:prstGeom>
          <a:noFill/>
          <a:ln/>
        </p:spPr>
        <p:txBody>
          <a:bodyPr wrap="square" rtlCol="0" anchor="ctr"/>
          <a:lstStyle/>
          <a:p>
            <a:pPr indent="0" marL="0">
              <a:lnSpc>
                <a:spcPct val="130000"/>
              </a:lnSpc>
              <a:buNone/>
            </a:pPr>
            <a:r>
              <a:rPr lang="en-US" sz="1300" dirty="0">
                <a:solidFill>
                  <a:srgbClr val="F6ECD8"/>
                </a:solidFill>
                <a:latin typeface="Segoe UI" pitchFamily="34" charset="0"/>
                <a:ea typeface="Segoe UI" pitchFamily="34" charset="-122"/>
                <a:cs typeface="Segoe UI" pitchFamily="34" charset="-120"/>
              </a:rPr>
              <a:t>24 món có giá (12 skin quân + 11 skin bàn + 3 bậc nâng cấp booster), 895–2,265 Xu.</a:t>
            </a:r>
            <a:endParaRPr lang="en-US" sz="1300" dirty="0"/>
          </a:p>
        </p:txBody>
      </p:sp>
      <p:sp>
        <p:nvSpPr>
          <p:cNvPr id="8" name="Text 4"/>
          <p:cNvSpPr/>
          <p:nvPr/>
        </p:nvSpPr>
        <p:spPr>
          <a:xfrm>
            <a:off x="822960" y="4937760"/>
            <a:ext cx="6309360" cy="731520"/>
          </a:xfrm>
          <a:prstGeom prst="rect">
            <a:avLst/>
          </a:prstGeom>
          <a:noFill/>
          <a:ln/>
        </p:spPr>
        <p:txBody>
          <a:bodyPr wrap="square" rtlCol="0" anchor="ctr"/>
          <a:lstStyle/>
          <a:p>
            <a:pPr indent="0" marL="0">
              <a:lnSpc>
                <a:spcPct val="130000"/>
              </a:lnSpc>
              <a:buNone/>
            </a:pPr>
            <a:r>
              <a:rPr lang="en-US" sz="1250" i="1" dirty="0">
                <a:solidFill>
                  <a:srgbClr val="C9BAA0"/>
                </a:solidFill>
                <a:latin typeface="Segoe UI" pitchFamily="34" charset="0"/>
                <a:ea typeface="Segoe UI" pitchFamily="34" charset="-122"/>
                <a:cs typeface="Segoe UI" pitchFamily="34" charset="-120"/>
              </a:rPr>
              <a:t>Món đắt nhất là mục tiêu dài hơi — người chơi tối ưu cả game cũng chỉ đủ mua 1-2 món đắt, không mua hết được cả catalogue.</a:t>
            </a:r>
            <a:endParaRPr lang="en-US" sz="1250" dirty="0"/>
          </a:p>
        </p:txBody>
      </p:sp>
      <p:sp>
        <p:nvSpPr>
          <p:cNvPr id="9" name="Text 5"/>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10" name="Text 6"/>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THẨM MỸ</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"Hành Trình Qua Vườn Trúc"</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sp>
        <p:nvSpPr>
          <p:cNvPr id="5" name="Text 3"/>
          <p:cNvSpPr/>
          <p:nvPr/>
        </p:nvSpPr>
        <p:spPr>
          <a:xfrm>
            <a:off x="822960" y="1828800"/>
            <a:ext cx="10545775" cy="457200"/>
          </a:xfrm>
          <a:prstGeom prst="rect">
            <a:avLst/>
          </a:prstGeom>
          <a:noFill/>
          <a:ln/>
        </p:spPr>
        <p:txBody>
          <a:bodyPr wrap="square" rtlCol="0" anchor="ctr"/>
          <a:lstStyle/>
          <a:p>
            <a:pPr indent="0" marL="0">
              <a:buNone/>
            </a:pPr>
            <a:r>
              <a:rPr lang="en-US" sz="1500" i="1" dirty="0">
                <a:solidFill>
                  <a:srgbClr val="E8B64C"/>
                </a:solidFill>
                <a:latin typeface="Segoe UI" pitchFamily="34" charset="0"/>
                <a:ea typeface="Segoe UI" pitchFamily="34" charset="-122"/>
                <a:cs typeface="Segoe UI" pitchFamily="34" charset="-120"/>
              </a:rPr>
              <a:t>Nguyệt Môn ở Main Menu  →  cổng tre ở Level Select  →  bàn trà gỗ lúc chơi</a:t>
            </a:r>
            <a:endParaRPr lang="en-US" sz="1500" dirty="0"/>
          </a:p>
        </p:txBody>
      </p:sp>
      <p:sp>
        <p:nvSpPr>
          <p:cNvPr id="6" name="Shape 4"/>
          <p:cNvSpPr/>
          <p:nvPr/>
        </p:nvSpPr>
        <p:spPr>
          <a:xfrm>
            <a:off x="822960" y="2468880"/>
            <a:ext cx="5120640" cy="3657600"/>
          </a:xfrm>
          <a:prstGeom prst="roundRect">
            <a:avLst>
              <a:gd name="adj" fmla="val 1500"/>
            </a:avLst>
          </a:prstGeom>
          <a:solidFill>
            <a:srgbClr val="241A10">
              <a:alpha val="75000"/>
            </a:srgbClr>
          </a:solidFill>
          <a:ln w="9525">
            <a:solidFill>
              <a:srgbClr val="8FBF52">
                <a:alpha val="55000"/>
              </a:srgbClr>
            </a:solidFill>
            <a:prstDash val="solid"/>
          </a:ln>
        </p:spPr>
      </p:sp>
      <p:sp>
        <p:nvSpPr>
          <p:cNvPr id="7" name="Text 5"/>
          <p:cNvSpPr/>
          <p:nvPr/>
        </p:nvSpPr>
        <p:spPr>
          <a:xfrm>
            <a:off x="1051560" y="2606040"/>
            <a:ext cx="4572000" cy="365760"/>
          </a:xfrm>
          <a:prstGeom prst="rect">
            <a:avLst/>
          </a:prstGeom>
          <a:noFill/>
          <a:ln/>
        </p:spPr>
        <p:txBody>
          <a:bodyPr wrap="square" rtlCol="0" anchor="ctr"/>
          <a:lstStyle/>
          <a:p>
            <a:pPr indent="0" marL="0">
              <a:buNone/>
            </a:pPr>
            <a:r>
              <a:rPr lang="en-US" sz="1400" b="1" spc="200" kern="0" dirty="0">
                <a:solidFill>
                  <a:srgbClr val="8FBF52"/>
                </a:solidFill>
                <a:latin typeface="Segoe UI" pitchFamily="34" charset="0"/>
                <a:ea typeface="Segoe UI" pitchFamily="34" charset="-122"/>
                <a:cs typeface="Segoe UI" pitchFamily="34" charset="-120"/>
              </a:rPr>
              <a:t>DÙNG</a:t>
            </a:r>
            <a:endParaRPr lang="en-US" sz="1400" dirty="0"/>
          </a:p>
        </p:txBody>
      </p:sp>
      <p:sp>
        <p:nvSpPr>
          <p:cNvPr id="8" name="Text 6"/>
          <p:cNvSpPr/>
          <p:nvPr/>
        </p:nvSpPr>
        <p:spPr>
          <a:xfrm>
            <a:off x="1051560" y="3063240"/>
            <a:ext cx="4663440" cy="548640"/>
          </a:xfrm>
          <a:prstGeom prst="rect">
            <a:avLst/>
          </a:prstGeom>
          <a:noFill/>
          <a:ln/>
        </p:spPr>
        <p:txBody>
          <a:bodyPr wrap="square" rtlCol="0" anchor="ctr"/>
          <a:lstStyle/>
          <a:p>
            <a:pPr indent="0" marL="0">
              <a:lnSpc>
                <a:spcPct val="120000"/>
              </a:lnSpc>
              <a:buNone/>
            </a:pPr>
            <a:r>
              <a:rPr lang="en-US" sz="1350" dirty="0">
                <a:solidFill>
                  <a:srgbClr val="F6ECD8"/>
                </a:solidFill>
                <a:latin typeface="Segoe UI" pitchFamily="34" charset="0"/>
                <a:ea typeface="Segoe UI" pitchFamily="34" charset="-122"/>
                <a:cs typeface="Segoe UI" pitchFamily="34" charset="-120"/>
              </a:rPr>
              <a:t>•  Gỗ tối, tre trúc, giấy màu ngà</a:t>
            </a:r>
            <a:endParaRPr lang="en-US" sz="1350" dirty="0"/>
          </a:p>
        </p:txBody>
      </p:sp>
      <p:sp>
        <p:nvSpPr>
          <p:cNvPr id="9" name="Text 7"/>
          <p:cNvSpPr/>
          <p:nvPr/>
        </p:nvSpPr>
        <p:spPr>
          <a:xfrm>
            <a:off x="1051560" y="3657600"/>
            <a:ext cx="4663440" cy="548640"/>
          </a:xfrm>
          <a:prstGeom prst="rect">
            <a:avLst/>
          </a:prstGeom>
          <a:noFill/>
          <a:ln/>
        </p:spPr>
        <p:txBody>
          <a:bodyPr wrap="square" rtlCol="0" anchor="ctr"/>
          <a:lstStyle/>
          <a:p>
            <a:pPr indent="0" marL="0">
              <a:lnSpc>
                <a:spcPct val="120000"/>
              </a:lnSpc>
              <a:buNone/>
            </a:pPr>
            <a:r>
              <a:rPr lang="en-US" sz="1350" dirty="0">
                <a:solidFill>
                  <a:srgbClr val="F6ECD8"/>
                </a:solidFill>
                <a:latin typeface="Segoe UI" pitchFamily="34" charset="0"/>
                <a:ea typeface="Segoe UI" pitchFamily="34" charset="-122"/>
                <a:cs typeface="Segoe UI" pitchFamily="34" charset="-120"/>
              </a:rPr>
              <a:t>•  Ngọc bích (jade) &amp; đồng cổ làm viền/accent</a:t>
            </a:r>
            <a:endParaRPr lang="en-US" sz="1350" dirty="0"/>
          </a:p>
        </p:txBody>
      </p:sp>
      <p:sp>
        <p:nvSpPr>
          <p:cNvPr id="10" name="Text 8"/>
          <p:cNvSpPr/>
          <p:nvPr/>
        </p:nvSpPr>
        <p:spPr>
          <a:xfrm>
            <a:off x="1051560" y="4251960"/>
            <a:ext cx="4663440" cy="548640"/>
          </a:xfrm>
          <a:prstGeom prst="rect">
            <a:avLst/>
          </a:prstGeom>
          <a:noFill/>
          <a:ln/>
        </p:spPr>
        <p:txBody>
          <a:bodyPr wrap="square" rtlCol="0" anchor="ctr"/>
          <a:lstStyle/>
          <a:p>
            <a:pPr indent="0" marL="0">
              <a:lnSpc>
                <a:spcPct val="120000"/>
              </a:lnSpc>
              <a:buNone/>
            </a:pPr>
            <a:r>
              <a:rPr lang="en-US" sz="1350" dirty="0">
                <a:solidFill>
                  <a:srgbClr val="F6ECD8"/>
                </a:solidFill>
                <a:latin typeface="Segoe UI" pitchFamily="34" charset="0"/>
                <a:ea typeface="Segoe UI" pitchFamily="34" charset="-122"/>
                <a:cs typeface="Segoe UI" pitchFamily="34" charset="-120"/>
              </a:rPr>
              <a:t>•  Zen: rõ ràng, tương phản mạnh, ít chuyển động cùng lúc</a:t>
            </a:r>
            <a:endParaRPr lang="en-US" sz="1350" dirty="0"/>
          </a:p>
        </p:txBody>
      </p:sp>
      <p:sp>
        <p:nvSpPr>
          <p:cNvPr id="11" name="Text 9"/>
          <p:cNvSpPr/>
          <p:nvPr/>
        </p:nvSpPr>
        <p:spPr>
          <a:xfrm>
            <a:off x="1051560" y="4846320"/>
            <a:ext cx="4663440" cy="548640"/>
          </a:xfrm>
          <a:prstGeom prst="rect">
            <a:avLst/>
          </a:prstGeom>
          <a:noFill/>
          <a:ln/>
        </p:spPr>
        <p:txBody>
          <a:bodyPr wrap="square" rtlCol="0" anchor="ctr"/>
          <a:lstStyle/>
          <a:p>
            <a:pPr indent="0" marL="0">
              <a:lnSpc>
                <a:spcPct val="120000"/>
              </a:lnSpc>
              <a:buNone/>
            </a:pPr>
            <a:r>
              <a:rPr lang="en-US" sz="1350" dirty="0">
                <a:solidFill>
                  <a:srgbClr val="F6ECD8"/>
                </a:solidFill>
                <a:latin typeface="Segoe UI" pitchFamily="34" charset="0"/>
                <a:ea typeface="Segoe UI" pitchFamily="34" charset="-122"/>
                <a:cs typeface="Segoe UI" pitchFamily="34" charset="-120"/>
              </a:rPr>
              <a:t>•  Hỗ trợ Reduced Motion đầy đủ</a:t>
            </a:r>
            <a:endParaRPr lang="en-US" sz="1350" dirty="0"/>
          </a:p>
        </p:txBody>
      </p:sp>
      <p:sp>
        <p:nvSpPr>
          <p:cNvPr id="12" name="Shape 10"/>
          <p:cNvSpPr/>
          <p:nvPr/>
        </p:nvSpPr>
        <p:spPr>
          <a:xfrm>
            <a:off x="6217920" y="2468880"/>
            <a:ext cx="5120640" cy="3657600"/>
          </a:xfrm>
          <a:prstGeom prst="roundRect">
            <a:avLst>
              <a:gd name="adj" fmla="val 1500"/>
            </a:avLst>
          </a:prstGeom>
          <a:solidFill>
            <a:srgbClr val="241A10">
              <a:alpha val="75000"/>
            </a:srgbClr>
          </a:solidFill>
          <a:ln w="9525">
            <a:solidFill>
              <a:srgbClr val="FF5D51">
                <a:alpha val="55000"/>
              </a:srgbClr>
            </a:solidFill>
            <a:prstDash val="solid"/>
          </a:ln>
        </p:spPr>
      </p:sp>
      <p:sp>
        <p:nvSpPr>
          <p:cNvPr id="13" name="Text 11"/>
          <p:cNvSpPr/>
          <p:nvPr/>
        </p:nvSpPr>
        <p:spPr>
          <a:xfrm>
            <a:off x="6446520" y="2606040"/>
            <a:ext cx="4572000" cy="365760"/>
          </a:xfrm>
          <a:prstGeom prst="rect">
            <a:avLst/>
          </a:prstGeom>
          <a:noFill/>
          <a:ln/>
        </p:spPr>
        <p:txBody>
          <a:bodyPr wrap="square" rtlCol="0" anchor="ctr"/>
          <a:lstStyle/>
          <a:p>
            <a:pPr indent="0" marL="0">
              <a:buNone/>
            </a:pPr>
            <a:r>
              <a:rPr lang="en-US" sz="1400" b="1" spc="200" kern="0" dirty="0">
                <a:solidFill>
                  <a:srgbClr val="FF5D51"/>
                </a:solidFill>
                <a:latin typeface="Segoe UI" pitchFamily="34" charset="0"/>
                <a:ea typeface="Segoe UI" pitchFamily="34" charset="-122"/>
                <a:cs typeface="Segoe UI" pitchFamily="34" charset="-120"/>
              </a:rPr>
              <a:t>TRÁNH</a:t>
            </a:r>
            <a:endParaRPr lang="en-US" sz="1400" dirty="0"/>
          </a:p>
        </p:txBody>
      </p:sp>
      <p:sp>
        <p:nvSpPr>
          <p:cNvPr id="14" name="Text 12"/>
          <p:cNvSpPr/>
          <p:nvPr/>
        </p:nvSpPr>
        <p:spPr>
          <a:xfrm>
            <a:off x="6446520" y="3063240"/>
            <a:ext cx="4663440" cy="548640"/>
          </a:xfrm>
          <a:prstGeom prst="rect">
            <a:avLst/>
          </a:prstGeom>
          <a:noFill/>
          <a:ln/>
        </p:spPr>
        <p:txBody>
          <a:bodyPr wrap="square" rtlCol="0" anchor="ctr"/>
          <a:lstStyle/>
          <a:p>
            <a:pPr indent="0" marL="0">
              <a:lnSpc>
                <a:spcPct val="120000"/>
              </a:lnSpc>
              <a:buNone/>
            </a:pPr>
            <a:r>
              <a:rPr lang="en-US" sz="1350" dirty="0">
                <a:solidFill>
                  <a:srgbClr val="F6ECD8"/>
                </a:solidFill>
                <a:latin typeface="Segoe UI" pitchFamily="34" charset="0"/>
                <a:ea typeface="Segoe UI" pitchFamily="34" charset="-122"/>
                <a:cs typeface="Segoe UI" pitchFamily="34" charset="-120"/>
              </a:rPr>
              <a:t>•  Không rồng, không đèn lồng đỏ lớn</a:t>
            </a:r>
            <a:endParaRPr lang="en-US" sz="1350" dirty="0"/>
          </a:p>
        </p:txBody>
      </p:sp>
      <p:sp>
        <p:nvSpPr>
          <p:cNvPr id="15" name="Text 13"/>
          <p:cNvSpPr/>
          <p:nvPr/>
        </p:nvSpPr>
        <p:spPr>
          <a:xfrm>
            <a:off x="6446520" y="3657600"/>
            <a:ext cx="4663440" cy="548640"/>
          </a:xfrm>
          <a:prstGeom prst="rect">
            <a:avLst/>
          </a:prstGeom>
          <a:noFill/>
          <a:ln/>
        </p:spPr>
        <p:txBody>
          <a:bodyPr wrap="square" rtlCol="0" anchor="ctr"/>
          <a:lstStyle/>
          <a:p>
            <a:pPr indent="0" marL="0">
              <a:lnSpc>
                <a:spcPct val="120000"/>
              </a:lnSpc>
              <a:buNone/>
            </a:pPr>
            <a:r>
              <a:rPr lang="en-US" sz="1350" dirty="0">
                <a:solidFill>
                  <a:srgbClr val="F6ECD8"/>
                </a:solidFill>
                <a:latin typeface="Segoe UI" pitchFamily="34" charset="0"/>
                <a:ea typeface="Segoe UI" pitchFamily="34" charset="-122"/>
                <a:cs typeface="Segoe UI" pitchFamily="34" charset="-120"/>
              </a:rPr>
              <a:t>•  Không hoa văn vàng đặc</a:t>
            </a:r>
            <a:endParaRPr lang="en-US" sz="1350" dirty="0"/>
          </a:p>
        </p:txBody>
      </p:sp>
      <p:sp>
        <p:nvSpPr>
          <p:cNvPr id="16" name="Text 14"/>
          <p:cNvSpPr/>
          <p:nvPr/>
        </p:nvSpPr>
        <p:spPr>
          <a:xfrm>
            <a:off x="6446520" y="4251960"/>
            <a:ext cx="4663440" cy="548640"/>
          </a:xfrm>
          <a:prstGeom prst="rect">
            <a:avLst/>
          </a:prstGeom>
          <a:noFill/>
          <a:ln/>
        </p:spPr>
        <p:txBody>
          <a:bodyPr wrap="square" rtlCol="0" anchor="ctr"/>
          <a:lstStyle/>
          <a:p>
            <a:pPr indent="0" marL="0">
              <a:lnSpc>
                <a:spcPct val="120000"/>
              </a:lnSpc>
              <a:buNone/>
            </a:pPr>
            <a:r>
              <a:rPr lang="en-US" sz="1350" dirty="0">
                <a:solidFill>
                  <a:srgbClr val="F6ECD8"/>
                </a:solidFill>
                <a:latin typeface="Segoe UI" pitchFamily="34" charset="0"/>
                <a:ea typeface="Segoe UI" pitchFamily="34" charset="-122"/>
                <a:cs typeface="Segoe UI" pitchFamily="34" charset="-120"/>
              </a:rPr>
              <a:t>•  Không hiệu ứng jackpot / pháo hoa / coin</a:t>
            </a:r>
            <a:endParaRPr lang="en-US" sz="1350" dirty="0"/>
          </a:p>
        </p:txBody>
      </p:sp>
      <p:sp>
        <p:nvSpPr>
          <p:cNvPr id="17" name="Text 15"/>
          <p:cNvSpPr/>
          <p:nvPr/>
        </p:nvSpPr>
        <p:spPr>
          <a:xfrm>
            <a:off x="6446520" y="4846320"/>
            <a:ext cx="4663440" cy="548640"/>
          </a:xfrm>
          <a:prstGeom prst="rect">
            <a:avLst/>
          </a:prstGeom>
          <a:noFill/>
          <a:ln/>
        </p:spPr>
        <p:txBody>
          <a:bodyPr wrap="square" rtlCol="0" anchor="ctr"/>
          <a:lstStyle/>
          <a:p>
            <a:pPr indent="0" marL="0">
              <a:lnSpc>
                <a:spcPct val="120000"/>
              </a:lnSpc>
              <a:buNone/>
            </a:pPr>
            <a:r>
              <a:rPr lang="en-US" sz="1350" dirty="0">
                <a:solidFill>
                  <a:srgbClr val="F6ECD8"/>
                </a:solidFill>
                <a:latin typeface="Segoe UI" pitchFamily="34" charset="0"/>
                <a:ea typeface="Segoe UI" pitchFamily="34" charset="-122"/>
                <a:cs typeface="Segoe UI" pitchFamily="34" charset="-120"/>
              </a:rPr>
              <a:t>•  Không "1 màn hình nhiều hành động" — luôn 1 màn = 1 việc</a:t>
            </a:r>
            <a:endParaRPr lang="en-US" sz="1350" dirty="0"/>
          </a:p>
        </p:txBody>
      </p:sp>
      <p:sp>
        <p:nvSpPr>
          <p:cNvPr id="18" name="Text 16"/>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19" name="Text 17"/>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TRỰC QUAN</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Main Menu &amp; Gameplay</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pic>
        <p:nvPicPr>
          <p:cNvPr id="5" name="Image 0" descr="C:\Users\LAP17257\AppData\Local\Temp\claude\c--Users-LAP17257-OneDrive---VNG-Group-JSC-Documents-Mahjong-x-Block\41d87727-9b1f-40ca-a02d-f00006e694c3\scratchpad\deck_menu.png">    </p:cNvPr>
          <p:cNvPicPr>
            <a:picLocks noChangeAspect="1"/>
          </p:cNvPicPr>
          <p:nvPr/>
        </p:nvPicPr>
        <p:blipFill>
          <a:blip r:embed="rId2"/>
          <a:stretch>
            <a:fillRect/>
          </a:stretch>
        </p:blipFill>
        <p:spPr>
          <a:xfrm>
            <a:off x="3902850" y="1691640"/>
            <a:ext cx="1941537" cy="4160520"/>
          </a:xfrm>
          <a:prstGeom prst="rect">
            <a:avLst/>
          </a:prstGeom>
        </p:spPr>
      </p:pic>
      <p:pic>
        <p:nvPicPr>
          <p:cNvPr id="6" name="Image 1" descr="C:\Users\LAP17257\AppData\Local\Temp\claude\c--Users-LAP17257-OneDrive---VNG-Group-JSC-Documents-Mahjong-x-Block\41d87727-9b1f-40ca-a02d-f00006e694c3\scratchpad\deck_gameplay.png">    </p:cNvPr>
          <p:cNvPicPr>
            <a:picLocks noChangeAspect="1"/>
          </p:cNvPicPr>
          <p:nvPr/>
        </p:nvPicPr>
        <p:blipFill>
          <a:blip r:embed="rId3"/>
          <a:stretch>
            <a:fillRect/>
          </a:stretch>
        </p:blipFill>
        <p:spPr>
          <a:xfrm>
            <a:off x="6347308" y="1691640"/>
            <a:ext cx="1941537" cy="4160520"/>
          </a:xfrm>
          <a:prstGeom prst="rect">
            <a:avLst/>
          </a:prstGeom>
        </p:spPr>
      </p:pic>
      <p:sp>
        <p:nvSpPr>
          <p:cNvPr id="7" name="Text 3"/>
          <p:cNvSpPr/>
          <p:nvPr/>
        </p:nvSpPr>
        <p:spPr>
          <a:xfrm>
            <a:off x="3628530" y="5961888"/>
            <a:ext cx="2490177" cy="320040"/>
          </a:xfrm>
          <a:prstGeom prst="rect">
            <a:avLst/>
          </a:prstGeom>
          <a:noFill/>
          <a:ln/>
        </p:spPr>
        <p:txBody>
          <a:bodyPr wrap="square" rtlCol="0" anchor="ctr"/>
          <a:lstStyle/>
          <a:p>
            <a:pPr algn="ctr" indent="0" marL="0">
              <a:buNone/>
            </a:pPr>
            <a:r>
              <a:rPr lang="en-US" sz="1150" dirty="0">
                <a:solidFill>
                  <a:srgbClr val="C9BAA0"/>
                </a:solidFill>
                <a:latin typeface="Segoe UI" pitchFamily="34" charset="0"/>
                <a:ea typeface="Segoe UI" pitchFamily="34" charset="-122"/>
                <a:cs typeface="Segoe UI" pitchFamily="34" charset="-120"/>
              </a:rPr>
              <a:t>Cổng tre Main Menu — 1 chạm để bắt đầu</a:t>
            </a:r>
            <a:endParaRPr lang="en-US" sz="1150" dirty="0"/>
          </a:p>
        </p:txBody>
      </p:sp>
      <p:sp>
        <p:nvSpPr>
          <p:cNvPr id="8" name="Text 4"/>
          <p:cNvSpPr/>
          <p:nvPr/>
        </p:nvSpPr>
        <p:spPr>
          <a:xfrm>
            <a:off x="6072988" y="5961888"/>
            <a:ext cx="2490177" cy="320040"/>
          </a:xfrm>
          <a:prstGeom prst="rect">
            <a:avLst/>
          </a:prstGeom>
          <a:noFill/>
          <a:ln/>
        </p:spPr>
        <p:txBody>
          <a:bodyPr wrap="square" rtlCol="0" anchor="ctr"/>
          <a:lstStyle/>
          <a:p>
            <a:pPr algn="ctr" indent="0" marL="0">
              <a:buNone/>
            </a:pPr>
            <a:r>
              <a:rPr lang="en-US" sz="1150" dirty="0">
                <a:solidFill>
                  <a:srgbClr val="C9BAA0"/>
                </a:solidFill>
                <a:latin typeface="Segoe UI" pitchFamily="34" charset="0"/>
                <a:ea typeface="Segoe UI" pitchFamily="34" charset="-122"/>
                <a:cs typeface="Segoe UI" pitchFamily="34" charset="-120"/>
              </a:rPr>
              <a:t>Bàn 2 tầng, khay hiện tại/kế tiếp, booster</a:t>
            </a:r>
            <a:endParaRPr lang="en-US" sz="1150" dirty="0"/>
          </a:p>
        </p:txBody>
      </p:sp>
      <p:sp>
        <p:nvSpPr>
          <p:cNvPr id="9" name="Text 5"/>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10" name="Text 6"/>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05 · HIỆN TRẠNG &amp; KẾ HOẠCH</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Đã xong những gì</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sp>
        <p:nvSpPr>
          <p:cNvPr id="5" name="Shape 3"/>
          <p:cNvSpPr/>
          <p:nvPr/>
        </p:nvSpPr>
        <p:spPr>
          <a:xfrm>
            <a:off x="822960" y="1874520"/>
            <a:ext cx="3332378" cy="1554480"/>
          </a:xfrm>
          <a:prstGeom prst="roundRect">
            <a:avLst>
              <a:gd name="adj" fmla="val 3529"/>
            </a:avLst>
          </a:prstGeom>
          <a:solidFill>
            <a:srgbClr val="3A2A16">
              <a:alpha val="85000"/>
            </a:srgbClr>
          </a:solidFill>
          <a:ln w="9525">
            <a:solidFill>
              <a:srgbClr val="E8B64C">
                <a:alpha val="55000"/>
              </a:srgbClr>
            </a:solidFill>
            <a:prstDash val="solid"/>
          </a:ln>
        </p:spPr>
      </p:sp>
      <p:sp>
        <p:nvSpPr>
          <p:cNvPr id="6" name="Text 4"/>
          <p:cNvSpPr/>
          <p:nvPr/>
        </p:nvSpPr>
        <p:spPr>
          <a:xfrm>
            <a:off x="960120" y="2011680"/>
            <a:ext cx="3058058" cy="685800"/>
          </a:xfrm>
          <a:prstGeom prst="rect">
            <a:avLst/>
          </a:prstGeom>
          <a:noFill/>
          <a:ln/>
        </p:spPr>
        <p:txBody>
          <a:bodyPr wrap="square" rtlCol="0" anchor="ctr"/>
          <a:lstStyle/>
          <a:p>
            <a:pPr algn="ctr" indent="0" marL="0">
              <a:buNone/>
            </a:pPr>
            <a:r>
              <a:rPr lang="en-US" sz="4000" dirty="0">
                <a:solidFill>
                  <a:srgbClr val="E8B64C"/>
                </a:solidFill>
                <a:latin typeface="Georgia" pitchFamily="34" charset="0"/>
                <a:ea typeface="Georgia" pitchFamily="34" charset="-122"/>
                <a:cs typeface="Georgia" pitchFamily="34" charset="-120"/>
              </a:rPr>
              <a:t>50</a:t>
            </a:r>
            <a:endParaRPr lang="en-US" sz="4000" dirty="0"/>
          </a:p>
        </p:txBody>
      </p:sp>
      <p:sp>
        <p:nvSpPr>
          <p:cNvPr id="7" name="Text 5"/>
          <p:cNvSpPr/>
          <p:nvPr/>
        </p:nvSpPr>
        <p:spPr>
          <a:xfrm>
            <a:off x="960120" y="2697480"/>
            <a:ext cx="3058058" cy="640080"/>
          </a:xfrm>
          <a:prstGeom prst="rect">
            <a:avLst/>
          </a:prstGeom>
          <a:noFill/>
          <a:ln/>
        </p:spPr>
        <p:txBody>
          <a:bodyPr wrap="square" rtlCol="0" anchor="ctr"/>
          <a:lstStyle/>
          <a:p>
            <a:pPr algn="ctr" indent="0" marL="0">
              <a:lnSpc>
                <a:spcPct val="120000"/>
              </a:lnSpc>
              <a:buNone/>
            </a:pPr>
            <a:r>
              <a:rPr lang="en-US" sz="1250" dirty="0">
                <a:solidFill>
                  <a:srgbClr val="F6ECD8"/>
                </a:solidFill>
                <a:latin typeface="Segoe UI" pitchFamily="34" charset="0"/>
                <a:ea typeface="Segoe UI" pitchFamily="34" charset="-122"/>
                <a:cs typeface="Segoe UI" pitchFamily="34" charset="-120"/>
              </a:rPr>
              <a:t>màn chơi</a:t>
            </a:r>
            <a:endParaRPr lang="en-US" sz="1250" dirty="0"/>
          </a:p>
          <a:p>
            <a:pPr algn="ctr" indent="0" marL="0">
              <a:lnSpc>
                <a:spcPct val="120000"/>
              </a:lnSpc>
              <a:buNone/>
            </a:pPr>
            <a:r>
              <a:rPr lang="en-US" sz="1250" dirty="0">
                <a:solidFill>
                  <a:srgbClr val="F6ECD8"/>
                </a:solidFill>
                <a:latin typeface="Segoe UI" pitchFamily="34" charset="0"/>
                <a:ea typeface="Segoe UI" pitchFamily="34" charset="-122"/>
                <a:cs typeface="Segoe UI" pitchFamily="34" charset="-120"/>
              </a:rPr>
              <a:t>mỗi màn tự-verify lời giải</a:t>
            </a:r>
            <a:endParaRPr lang="en-US" sz="1250" dirty="0"/>
          </a:p>
        </p:txBody>
      </p:sp>
      <p:sp>
        <p:nvSpPr>
          <p:cNvPr id="8" name="Shape 6"/>
          <p:cNvSpPr/>
          <p:nvPr/>
        </p:nvSpPr>
        <p:spPr>
          <a:xfrm>
            <a:off x="4429658" y="1874520"/>
            <a:ext cx="3332378" cy="1554480"/>
          </a:xfrm>
          <a:prstGeom prst="roundRect">
            <a:avLst>
              <a:gd name="adj" fmla="val 3529"/>
            </a:avLst>
          </a:prstGeom>
          <a:solidFill>
            <a:srgbClr val="3A2A16">
              <a:alpha val="85000"/>
            </a:srgbClr>
          </a:solidFill>
          <a:ln w="9525">
            <a:solidFill>
              <a:srgbClr val="E8B64C">
                <a:alpha val="55000"/>
              </a:srgbClr>
            </a:solidFill>
            <a:prstDash val="solid"/>
          </a:ln>
        </p:spPr>
      </p:sp>
      <p:sp>
        <p:nvSpPr>
          <p:cNvPr id="9" name="Text 7"/>
          <p:cNvSpPr/>
          <p:nvPr/>
        </p:nvSpPr>
        <p:spPr>
          <a:xfrm>
            <a:off x="4566818" y="2011680"/>
            <a:ext cx="3058058" cy="685800"/>
          </a:xfrm>
          <a:prstGeom prst="rect">
            <a:avLst/>
          </a:prstGeom>
          <a:noFill/>
          <a:ln/>
        </p:spPr>
        <p:txBody>
          <a:bodyPr wrap="square" rtlCol="0" anchor="ctr"/>
          <a:lstStyle/>
          <a:p>
            <a:pPr algn="ctr" indent="0" marL="0">
              <a:buNone/>
            </a:pPr>
            <a:r>
              <a:rPr lang="en-US" sz="4000" dirty="0">
                <a:solidFill>
                  <a:srgbClr val="E8B64C"/>
                </a:solidFill>
                <a:latin typeface="Georgia" pitchFamily="34" charset="0"/>
                <a:ea typeface="Georgia" pitchFamily="34" charset="-122"/>
                <a:cs typeface="Georgia" pitchFamily="34" charset="-120"/>
              </a:rPr>
              <a:t>31</a:t>
            </a:r>
            <a:endParaRPr lang="en-US" sz="4000" dirty="0"/>
          </a:p>
        </p:txBody>
      </p:sp>
      <p:sp>
        <p:nvSpPr>
          <p:cNvPr id="10" name="Text 8"/>
          <p:cNvSpPr/>
          <p:nvPr/>
        </p:nvSpPr>
        <p:spPr>
          <a:xfrm>
            <a:off x="4566818" y="2697480"/>
            <a:ext cx="3058058" cy="640080"/>
          </a:xfrm>
          <a:prstGeom prst="rect">
            <a:avLst/>
          </a:prstGeom>
          <a:noFill/>
          <a:ln/>
        </p:spPr>
        <p:txBody>
          <a:bodyPr wrap="square" rtlCol="0" anchor="ctr"/>
          <a:lstStyle/>
          <a:p>
            <a:pPr algn="ctr" indent="0" marL="0">
              <a:lnSpc>
                <a:spcPct val="120000"/>
              </a:lnSpc>
              <a:buNone/>
            </a:pPr>
            <a:r>
              <a:rPr lang="en-US" sz="1250" dirty="0">
                <a:solidFill>
                  <a:srgbClr val="F6ECD8"/>
                </a:solidFill>
                <a:latin typeface="Segoe UI" pitchFamily="34" charset="0"/>
                <a:ea typeface="Segoe UI" pitchFamily="34" charset="-122"/>
                <a:cs typeface="Segoe UI" pitchFamily="34" charset="-120"/>
              </a:rPr>
              <a:t>self-test tự động</a:t>
            </a:r>
            <a:endParaRPr lang="en-US" sz="1250" dirty="0"/>
          </a:p>
          <a:p>
            <a:pPr algn="ctr" indent="0" marL="0">
              <a:lnSpc>
                <a:spcPct val="120000"/>
              </a:lnSpc>
              <a:buNone/>
            </a:pPr>
            <a:r>
              <a:rPr lang="en-US" sz="1250" dirty="0">
                <a:solidFill>
                  <a:srgbClr val="F6ECD8"/>
                </a:solidFill>
                <a:latin typeface="Segoe UI" pitchFamily="34" charset="0"/>
                <a:ea typeface="Segoe UI" pitchFamily="34" charset="-122"/>
                <a:cs typeface="Segoe UI" pitchFamily="34" charset="-120"/>
              </a:rPr>
              <a:t>chạy mỗi lần mở game</a:t>
            </a:r>
            <a:endParaRPr lang="en-US" sz="1250" dirty="0"/>
          </a:p>
        </p:txBody>
      </p:sp>
      <p:sp>
        <p:nvSpPr>
          <p:cNvPr id="11" name="Shape 9"/>
          <p:cNvSpPr/>
          <p:nvPr/>
        </p:nvSpPr>
        <p:spPr>
          <a:xfrm>
            <a:off x="8036357" y="1874520"/>
            <a:ext cx="3332378" cy="1554480"/>
          </a:xfrm>
          <a:prstGeom prst="roundRect">
            <a:avLst>
              <a:gd name="adj" fmla="val 3529"/>
            </a:avLst>
          </a:prstGeom>
          <a:solidFill>
            <a:srgbClr val="3A2A16">
              <a:alpha val="85000"/>
            </a:srgbClr>
          </a:solidFill>
          <a:ln w="9525">
            <a:solidFill>
              <a:srgbClr val="E8B64C">
                <a:alpha val="55000"/>
              </a:srgbClr>
            </a:solidFill>
            <a:prstDash val="solid"/>
          </a:ln>
        </p:spPr>
      </p:sp>
      <p:sp>
        <p:nvSpPr>
          <p:cNvPr id="12" name="Text 10"/>
          <p:cNvSpPr/>
          <p:nvPr/>
        </p:nvSpPr>
        <p:spPr>
          <a:xfrm>
            <a:off x="8173517" y="2011680"/>
            <a:ext cx="3058058" cy="685800"/>
          </a:xfrm>
          <a:prstGeom prst="rect">
            <a:avLst/>
          </a:prstGeom>
          <a:noFill/>
          <a:ln/>
        </p:spPr>
        <p:txBody>
          <a:bodyPr wrap="square" rtlCol="0" anchor="ctr"/>
          <a:lstStyle/>
          <a:p>
            <a:pPr algn="ctr" indent="0" marL="0">
              <a:buNone/>
            </a:pPr>
            <a:r>
              <a:rPr lang="en-US" sz="4000" dirty="0">
                <a:solidFill>
                  <a:srgbClr val="E8B64C"/>
                </a:solidFill>
                <a:latin typeface="Georgia" pitchFamily="34" charset="0"/>
                <a:ea typeface="Georgia" pitchFamily="34" charset="-122"/>
                <a:cs typeface="Georgia" pitchFamily="34" charset="-120"/>
              </a:rPr>
              <a:t>24</a:t>
            </a:r>
            <a:endParaRPr lang="en-US" sz="4000" dirty="0"/>
          </a:p>
        </p:txBody>
      </p:sp>
      <p:sp>
        <p:nvSpPr>
          <p:cNvPr id="13" name="Text 11"/>
          <p:cNvSpPr/>
          <p:nvPr/>
        </p:nvSpPr>
        <p:spPr>
          <a:xfrm>
            <a:off x="8173517" y="2697480"/>
            <a:ext cx="3058058" cy="640080"/>
          </a:xfrm>
          <a:prstGeom prst="rect">
            <a:avLst/>
          </a:prstGeom>
          <a:noFill/>
          <a:ln/>
        </p:spPr>
        <p:txBody>
          <a:bodyPr wrap="square" rtlCol="0" anchor="ctr"/>
          <a:lstStyle/>
          <a:p>
            <a:pPr algn="ctr" indent="0" marL="0">
              <a:lnSpc>
                <a:spcPct val="120000"/>
              </a:lnSpc>
              <a:buNone/>
            </a:pPr>
            <a:r>
              <a:rPr lang="en-US" sz="1250" dirty="0">
                <a:solidFill>
                  <a:srgbClr val="F6ECD8"/>
                </a:solidFill>
                <a:latin typeface="Segoe UI" pitchFamily="34" charset="0"/>
                <a:ea typeface="Segoe UI" pitchFamily="34" charset="-122"/>
                <a:cs typeface="Segoe UI" pitchFamily="34" charset="-120"/>
              </a:rPr>
              <a:t>món trong Cửa hàng</a:t>
            </a:r>
            <a:endParaRPr lang="en-US" sz="1250" dirty="0"/>
          </a:p>
          <a:p>
            <a:pPr algn="ctr" indent="0" marL="0">
              <a:lnSpc>
                <a:spcPct val="120000"/>
              </a:lnSpc>
              <a:buNone/>
            </a:pPr>
            <a:r>
              <a:rPr lang="en-US" sz="1250" dirty="0">
                <a:solidFill>
                  <a:srgbClr val="F6ECD8"/>
                </a:solidFill>
                <a:latin typeface="Segoe UI" pitchFamily="34" charset="0"/>
                <a:ea typeface="Segoe UI" pitchFamily="34" charset="-122"/>
                <a:cs typeface="Segoe UI" pitchFamily="34" charset="-120"/>
              </a:rPr>
              <a:t>skin quân · bàn · booster</a:t>
            </a:r>
            <a:endParaRPr lang="en-US" sz="1250" dirty="0"/>
          </a:p>
        </p:txBody>
      </p:sp>
      <p:sp>
        <p:nvSpPr>
          <p:cNvPr id="14" name="Text 12"/>
          <p:cNvSpPr/>
          <p:nvPr/>
        </p:nvSpPr>
        <p:spPr>
          <a:xfrm>
            <a:off x="822960" y="3794760"/>
            <a:ext cx="10545775" cy="365760"/>
          </a:xfrm>
          <a:prstGeom prst="rect">
            <a:avLst/>
          </a:prstGeom>
          <a:noFill/>
          <a:ln/>
        </p:spPr>
        <p:txBody>
          <a:bodyPr wrap="square" rtlCol="0" anchor="ctr"/>
          <a:lstStyle/>
          <a:p>
            <a:pPr indent="0" marL="0">
              <a:buNone/>
            </a:pPr>
            <a:r>
              <a:rPr lang="en-US" sz="1400" dirty="0">
                <a:solidFill>
                  <a:srgbClr val="F6ECD8"/>
                </a:solidFill>
                <a:latin typeface="Segoe UI" pitchFamily="34" charset="0"/>
                <a:ea typeface="Segoe UI" pitchFamily="34" charset="-122"/>
                <a:cs typeface="Segoe UI" pitchFamily="34" charset="-120"/>
              </a:rPr>
              <a:t>✓  Vòng lặp core (che–lộ–match–cascade) + 4 loại mục tiêu</a:t>
            </a:r>
            <a:endParaRPr lang="en-US" sz="1400" dirty="0"/>
          </a:p>
        </p:txBody>
      </p:sp>
      <p:sp>
        <p:nvSpPr>
          <p:cNvPr id="15" name="Text 13"/>
          <p:cNvSpPr/>
          <p:nvPr/>
        </p:nvSpPr>
        <p:spPr>
          <a:xfrm>
            <a:off x="822960" y="4215384"/>
            <a:ext cx="10545775" cy="365760"/>
          </a:xfrm>
          <a:prstGeom prst="rect">
            <a:avLst/>
          </a:prstGeom>
          <a:noFill/>
          <a:ln/>
        </p:spPr>
        <p:txBody>
          <a:bodyPr wrap="square" rtlCol="0" anchor="ctr"/>
          <a:lstStyle/>
          <a:p>
            <a:pPr indent="0" marL="0">
              <a:buNone/>
            </a:pPr>
            <a:r>
              <a:rPr lang="en-US" sz="1400" dirty="0">
                <a:solidFill>
                  <a:srgbClr val="F6ECD8"/>
                </a:solidFill>
                <a:latin typeface="Segoe UI" pitchFamily="34" charset="0"/>
                <a:ea typeface="Segoe UI" pitchFamily="34" charset="-122"/>
                <a:cs typeface="Segoe UI" pitchFamily="34" charset="-120"/>
              </a:rPr>
              <a:t>✓  Seal, Ô Chắn, Lock, Move Limit, 2 booster</a:t>
            </a:r>
            <a:endParaRPr lang="en-US" sz="1400" dirty="0"/>
          </a:p>
        </p:txBody>
      </p:sp>
      <p:sp>
        <p:nvSpPr>
          <p:cNvPr id="16" name="Text 14"/>
          <p:cNvSpPr/>
          <p:nvPr/>
        </p:nvSpPr>
        <p:spPr>
          <a:xfrm>
            <a:off x="822960" y="4636008"/>
            <a:ext cx="10545775" cy="365760"/>
          </a:xfrm>
          <a:prstGeom prst="rect">
            <a:avLst/>
          </a:prstGeom>
          <a:noFill/>
          <a:ln/>
        </p:spPr>
        <p:txBody>
          <a:bodyPr wrap="square" rtlCol="0" anchor="ctr"/>
          <a:lstStyle/>
          <a:p>
            <a:pPr indent="0" marL="0">
              <a:buNone/>
            </a:pPr>
            <a:r>
              <a:rPr lang="en-US" sz="1400" dirty="0">
                <a:solidFill>
                  <a:srgbClr val="F6ECD8"/>
                </a:solidFill>
                <a:latin typeface="Segoe UI" pitchFamily="34" charset="0"/>
                <a:ea typeface="Segoe UI" pitchFamily="34" charset="-122"/>
                <a:cs typeface="Segoe UI" pitchFamily="34" charset="-120"/>
              </a:rPr>
              <a:t>✓  Hệ thống Điểm (chuỗi, streak, lượt dư) hiện trong HUD</a:t>
            </a:r>
            <a:endParaRPr lang="en-US" sz="1400" dirty="0"/>
          </a:p>
        </p:txBody>
      </p:sp>
      <p:sp>
        <p:nvSpPr>
          <p:cNvPr id="17" name="Text 15"/>
          <p:cNvSpPr/>
          <p:nvPr/>
        </p:nvSpPr>
        <p:spPr>
          <a:xfrm>
            <a:off x="822960" y="5056632"/>
            <a:ext cx="10545775" cy="365760"/>
          </a:xfrm>
          <a:prstGeom prst="rect">
            <a:avLst/>
          </a:prstGeom>
          <a:noFill/>
          <a:ln/>
        </p:spPr>
        <p:txBody>
          <a:bodyPr wrap="square" rtlCol="0" anchor="ctr"/>
          <a:lstStyle/>
          <a:p>
            <a:pPr indent="0" marL="0">
              <a:buNone/>
            </a:pPr>
            <a:r>
              <a:rPr lang="en-US" sz="1400" dirty="0">
                <a:solidFill>
                  <a:srgbClr val="F6ECD8"/>
                </a:solidFill>
                <a:latin typeface="Segoe UI" pitchFamily="34" charset="0"/>
                <a:ea typeface="Segoe UI" pitchFamily="34" charset="-122"/>
                <a:cs typeface="Segoe UI" pitchFamily="34" charset="-120"/>
              </a:rPr>
              <a:t>✓  Kinh tế Xu (công thức log) + Cửa hàng skin/nâng cấp</a:t>
            </a:r>
            <a:endParaRPr lang="en-US" sz="1400" dirty="0"/>
          </a:p>
        </p:txBody>
      </p:sp>
      <p:sp>
        <p:nvSpPr>
          <p:cNvPr id="18" name="Text 16"/>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19" name="Text 17"/>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365760"/>
          </a:xfrm>
          <a:prstGeom prst="rect">
            <a:avLst/>
          </a:prstGeom>
          <a:noFill/>
          <a:ln/>
        </p:spPr>
        <p:txBody>
          <a:bodyPr wrap="square" rtlCol="0" anchor="ctr"/>
          <a:lstStyle/>
          <a:p>
            <a:pPr indent="0" marL="0">
              <a:buNone/>
            </a:pPr>
            <a:r>
              <a:rPr lang="en-US" sz="1300" b="1" spc="300" kern="0" dirty="0">
                <a:solidFill>
                  <a:srgbClr val="E8B64C"/>
                </a:solidFill>
                <a:latin typeface="Segoe UI" pitchFamily="34" charset="0"/>
                <a:ea typeface="Segoe UI" pitchFamily="34" charset="-122"/>
                <a:cs typeface="Segoe UI" pitchFamily="34" charset="-120"/>
              </a:rPr>
              <a:t>05 · HIỆN TRẠNG &amp; KẾ HOẠCH</a:t>
            </a:r>
            <a:endParaRPr lang="en-US" sz="1300" dirty="0"/>
          </a:p>
        </p:txBody>
      </p:sp>
      <p:sp>
        <p:nvSpPr>
          <p:cNvPr id="3" name="Text 1"/>
          <p:cNvSpPr/>
          <p:nvPr/>
        </p:nvSpPr>
        <p:spPr>
          <a:xfrm>
            <a:off x="822960" y="777240"/>
            <a:ext cx="10545775" cy="822960"/>
          </a:xfrm>
          <a:prstGeom prst="rect">
            <a:avLst/>
          </a:prstGeom>
          <a:noFill/>
          <a:ln/>
        </p:spPr>
        <p:txBody>
          <a:bodyPr wrap="square" rtlCol="0" anchor="ctr"/>
          <a:lstStyle/>
          <a:p>
            <a:pPr indent="0" marL="0">
              <a:buNone/>
            </a:pPr>
            <a:r>
              <a:rPr lang="en-US" sz="3200" dirty="0">
                <a:solidFill>
                  <a:srgbClr val="F6ECD8"/>
                </a:solidFill>
                <a:latin typeface="Georgia" pitchFamily="34" charset="0"/>
                <a:ea typeface="Georgia" pitchFamily="34" charset="-122"/>
                <a:cs typeface="Georgia" pitchFamily="34" charset="-120"/>
              </a:rPr>
              <a:t>Tiếp theo</a:t>
            </a:r>
            <a:endParaRPr lang="en-US" sz="3200" dirty="0"/>
          </a:p>
        </p:txBody>
      </p:sp>
      <p:sp>
        <p:nvSpPr>
          <p:cNvPr id="4" name="Shape 2"/>
          <p:cNvSpPr/>
          <p:nvPr/>
        </p:nvSpPr>
        <p:spPr>
          <a:xfrm>
            <a:off x="822960" y="1536192"/>
            <a:ext cx="1005840" cy="0"/>
          </a:xfrm>
          <a:prstGeom prst="line">
            <a:avLst/>
          </a:prstGeom>
          <a:noFill/>
          <a:ln w="19050">
            <a:solidFill>
              <a:srgbClr val="E8B64C"/>
            </a:solidFill>
            <a:prstDash val="solid"/>
          </a:ln>
        </p:spPr>
      </p:sp>
      <p:sp>
        <p:nvSpPr>
          <p:cNvPr id="5" name="Shape 3"/>
          <p:cNvSpPr/>
          <p:nvPr/>
        </p:nvSpPr>
        <p:spPr>
          <a:xfrm>
            <a:off x="822960" y="1920240"/>
            <a:ext cx="10545775" cy="914400"/>
          </a:xfrm>
          <a:prstGeom prst="roundRect">
            <a:avLst>
              <a:gd name="adj" fmla="val 6000"/>
            </a:avLst>
          </a:prstGeom>
          <a:solidFill>
            <a:srgbClr val="241A10">
              <a:alpha val="75000"/>
            </a:srgbClr>
          </a:solidFill>
          <a:ln w="9525">
            <a:solidFill>
              <a:srgbClr val="E8B64C">
                <a:alpha val="55000"/>
              </a:srgbClr>
            </a:solidFill>
            <a:prstDash val="solid"/>
          </a:ln>
        </p:spPr>
      </p:sp>
      <p:sp>
        <p:nvSpPr>
          <p:cNvPr id="6" name="Text 4"/>
          <p:cNvSpPr/>
          <p:nvPr/>
        </p:nvSpPr>
        <p:spPr>
          <a:xfrm>
            <a:off x="1005840" y="2103120"/>
            <a:ext cx="548640" cy="548640"/>
          </a:xfrm>
          <a:prstGeom prst="rect">
            <a:avLst/>
          </a:prstGeom>
          <a:noFill/>
          <a:ln/>
        </p:spPr>
        <p:txBody>
          <a:bodyPr wrap="square" rtlCol="0" anchor="ctr"/>
          <a:lstStyle/>
          <a:p>
            <a:pPr indent="0" marL="0">
              <a:buNone/>
            </a:pPr>
            <a:r>
              <a:rPr lang="en-US" sz="2200" dirty="0">
                <a:solidFill>
                  <a:srgbClr val="E8B64C"/>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737360" y="2039112"/>
            <a:ext cx="3108960" cy="640080"/>
          </a:xfrm>
          <a:prstGeom prst="rect">
            <a:avLst/>
          </a:prstGeom>
          <a:noFill/>
          <a:ln/>
        </p:spPr>
        <p:txBody>
          <a:bodyPr wrap="square" rtlCol="0" anchor="ctr"/>
          <a:lstStyle/>
          <a:p>
            <a:pPr indent="0" marL="0">
              <a:buNone/>
            </a:pPr>
            <a:r>
              <a:rPr lang="en-US" sz="1500" b="1" dirty="0">
                <a:solidFill>
                  <a:srgbClr val="F6ECD8"/>
                </a:solidFill>
                <a:latin typeface="Segoe UI" pitchFamily="34" charset="0"/>
                <a:ea typeface="Segoe UI" pitchFamily="34" charset="-122"/>
                <a:cs typeface="Segoe UI" pitchFamily="34" charset="-120"/>
              </a:rPr>
              <a:t>Playtest thật</a:t>
            </a:r>
            <a:endParaRPr lang="en-US" sz="1500" dirty="0"/>
          </a:p>
        </p:txBody>
      </p:sp>
      <p:sp>
        <p:nvSpPr>
          <p:cNvPr id="8" name="Text 6"/>
          <p:cNvSpPr/>
          <p:nvPr/>
        </p:nvSpPr>
        <p:spPr>
          <a:xfrm>
            <a:off x="4937760" y="2011680"/>
            <a:ext cx="6248095" cy="731520"/>
          </a:xfrm>
          <a:prstGeom prst="rect">
            <a:avLst/>
          </a:prstGeom>
          <a:noFill/>
          <a:ln/>
        </p:spPr>
        <p:txBody>
          <a:bodyPr wrap="square" rtlCol="0" anchor="ctr"/>
          <a:lstStyle/>
          <a:p>
            <a:pPr indent="0" marL="0">
              <a:lnSpc>
                <a:spcPct val="125000"/>
              </a:lnSpc>
              <a:buNone/>
            </a:pPr>
            <a:r>
              <a:rPr lang="en-US" sz="1250" dirty="0">
                <a:solidFill>
                  <a:srgbClr val="C9BAA0"/>
                </a:solidFill>
                <a:latin typeface="Segoe UI" pitchFamily="34" charset="0"/>
                <a:ea typeface="Segoe UI" pitchFamily="34" charset="-122"/>
                <a:cs typeface="Segoe UI" pitchFamily="34" charset="-120"/>
              </a:rPr>
              <a:t>Đối chiếu đường cong độ khó lý thuyết với cảm giác chơi thật, đặc biệt đoạn Lv49→50.</a:t>
            </a:r>
            <a:endParaRPr lang="en-US" sz="1250" dirty="0"/>
          </a:p>
        </p:txBody>
      </p:sp>
      <p:sp>
        <p:nvSpPr>
          <p:cNvPr id="9" name="Shape 7"/>
          <p:cNvSpPr/>
          <p:nvPr/>
        </p:nvSpPr>
        <p:spPr>
          <a:xfrm>
            <a:off x="822960" y="3017520"/>
            <a:ext cx="10545775" cy="914400"/>
          </a:xfrm>
          <a:prstGeom prst="roundRect">
            <a:avLst>
              <a:gd name="adj" fmla="val 6000"/>
            </a:avLst>
          </a:prstGeom>
          <a:solidFill>
            <a:srgbClr val="241A10">
              <a:alpha val="75000"/>
            </a:srgbClr>
          </a:solidFill>
          <a:ln w="9525">
            <a:solidFill>
              <a:srgbClr val="E8B64C">
                <a:alpha val="55000"/>
              </a:srgbClr>
            </a:solidFill>
            <a:prstDash val="solid"/>
          </a:ln>
        </p:spPr>
      </p:sp>
      <p:sp>
        <p:nvSpPr>
          <p:cNvPr id="10" name="Text 8"/>
          <p:cNvSpPr/>
          <p:nvPr/>
        </p:nvSpPr>
        <p:spPr>
          <a:xfrm>
            <a:off x="1005840" y="3200400"/>
            <a:ext cx="548640" cy="548640"/>
          </a:xfrm>
          <a:prstGeom prst="rect">
            <a:avLst/>
          </a:prstGeom>
          <a:noFill/>
          <a:ln/>
        </p:spPr>
        <p:txBody>
          <a:bodyPr wrap="square" rtlCol="0" anchor="ctr"/>
          <a:lstStyle/>
          <a:p>
            <a:pPr indent="0" marL="0">
              <a:buNone/>
            </a:pPr>
            <a:r>
              <a:rPr lang="en-US" sz="2200" dirty="0">
                <a:solidFill>
                  <a:srgbClr val="E8B64C"/>
                </a:solidFill>
                <a:latin typeface="Georgia" pitchFamily="34" charset="0"/>
                <a:ea typeface="Georgia" pitchFamily="34" charset="-122"/>
                <a:cs typeface="Georgia" pitchFamily="34" charset="-120"/>
              </a:rPr>
              <a:t>2</a:t>
            </a:r>
            <a:endParaRPr lang="en-US" sz="2200" dirty="0"/>
          </a:p>
        </p:txBody>
      </p:sp>
      <p:sp>
        <p:nvSpPr>
          <p:cNvPr id="11" name="Text 9"/>
          <p:cNvSpPr/>
          <p:nvPr/>
        </p:nvSpPr>
        <p:spPr>
          <a:xfrm>
            <a:off x="1737360" y="3136392"/>
            <a:ext cx="3108960" cy="640080"/>
          </a:xfrm>
          <a:prstGeom prst="rect">
            <a:avLst/>
          </a:prstGeom>
          <a:noFill/>
          <a:ln/>
        </p:spPr>
        <p:txBody>
          <a:bodyPr wrap="square" rtlCol="0" anchor="ctr"/>
          <a:lstStyle/>
          <a:p>
            <a:pPr indent="0" marL="0">
              <a:buNone/>
            </a:pPr>
            <a:r>
              <a:rPr lang="en-US" sz="1500" b="1" dirty="0">
                <a:solidFill>
                  <a:srgbClr val="F6ECD8"/>
                </a:solidFill>
                <a:latin typeface="Segoe UI" pitchFamily="34" charset="0"/>
                <a:ea typeface="Segoe UI" pitchFamily="34" charset="-122"/>
                <a:cs typeface="Segoe UI" pitchFamily="34" charset="-120"/>
              </a:rPr>
              <a:t>Cân bằng lại theo dữ liệu</a:t>
            </a:r>
            <a:endParaRPr lang="en-US" sz="1500" dirty="0"/>
          </a:p>
        </p:txBody>
      </p:sp>
      <p:sp>
        <p:nvSpPr>
          <p:cNvPr id="12" name="Text 10"/>
          <p:cNvSpPr/>
          <p:nvPr/>
        </p:nvSpPr>
        <p:spPr>
          <a:xfrm>
            <a:off x="4937760" y="3108960"/>
            <a:ext cx="6248095" cy="731520"/>
          </a:xfrm>
          <a:prstGeom prst="rect">
            <a:avLst/>
          </a:prstGeom>
          <a:noFill/>
          <a:ln/>
        </p:spPr>
        <p:txBody>
          <a:bodyPr wrap="square" rtlCol="0" anchor="ctr"/>
          <a:lstStyle/>
          <a:p>
            <a:pPr indent="0" marL="0">
              <a:lnSpc>
                <a:spcPct val="125000"/>
              </a:lnSpc>
              <a:buNone/>
            </a:pPr>
            <a:r>
              <a:rPr lang="en-US" sz="1250" dirty="0">
                <a:solidFill>
                  <a:srgbClr val="C9BAA0"/>
                </a:solidFill>
                <a:latin typeface="Segoe UI" pitchFamily="34" charset="0"/>
                <a:ea typeface="Segoe UI" pitchFamily="34" charset="-122"/>
                <a:cs typeface="Segoe UI" pitchFamily="34" charset="-120"/>
              </a:rPr>
              <a:t>Theo dõi % người chơi mua được cosmetic đầu tiên trước hết Chương 1.</a:t>
            </a:r>
            <a:endParaRPr lang="en-US" sz="1250" dirty="0"/>
          </a:p>
        </p:txBody>
      </p:sp>
      <p:sp>
        <p:nvSpPr>
          <p:cNvPr id="13" name="Shape 11"/>
          <p:cNvSpPr/>
          <p:nvPr/>
        </p:nvSpPr>
        <p:spPr>
          <a:xfrm>
            <a:off x="822960" y="4114800"/>
            <a:ext cx="10545775" cy="914400"/>
          </a:xfrm>
          <a:prstGeom prst="roundRect">
            <a:avLst>
              <a:gd name="adj" fmla="val 6000"/>
            </a:avLst>
          </a:prstGeom>
          <a:solidFill>
            <a:srgbClr val="241A10">
              <a:alpha val="75000"/>
            </a:srgbClr>
          </a:solidFill>
          <a:ln w="9525">
            <a:solidFill>
              <a:srgbClr val="E8B64C">
                <a:alpha val="55000"/>
              </a:srgbClr>
            </a:solidFill>
            <a:prstDash val="solid"/>
          </a:ln>
        </p:spPr>
      </p:sp>
      <p:sp>
        <p:nvSpPr>
          <p:cNvPr id="14" name="Text 12"/>
          <p:cNvSpPr/>
          <p:nvPr/>
        </p:nvSpPr>
        <p:spPr>
          <a:xfrm>
            <a:off x="1005840" y="4297680"/>
            <a:ext cx="548640" cy="548640"/>
          </a:xfrm>
          <a:prstGeom prst="rect">
            <a:avLst/>
          </a:prstGeom>
          <a:noFill/>
          <a:ln/>
        </p:spPr>
        <p:txBody>
          <a:bodyPr wrap="square" rtlCol="0" anchor="ctr"/>
          <a:lstStyle/>
          <a:p>
            <a:pPr indent="0" marL="0">
              <a:buNone/>
            </a:pPr>
            <a:r>
              <a:rPr lang="en-US" sz="2200" dirty="0">
                <a:solidFill>
                  <a:srgbClr val="E8B64C"/>
                </a:solidFill>
                <a:latin typeface="Georgia" pitchFamily="34" charset="0"/>
                <a:ea typeface="Georgia" pitchFamily="34" charset="-122"/>
                <a:cs typeface="Georgia" pitchFamily="34" charset="-120"/>
              </a:rPr>
              <a:t>3</a:t>
            </a:r>
            <a:endParaRPr lang="en-US" sz="2200" dirty="0"/>
          </a:p>
        </p:txBody>
      </p:sp>
      <p:sp>
        <p:nvSpPr>
          <p:cNvPr id="15" name="Text 13"/>
          <p:cNvSpPr/>
          <p:nvPr/>
        </p:nvSpPr>
        <p:spPr>
          <a:xfrm>
            <a:off x="1737360" y="4233672"/>
            <a:ext cx="3108960" cy="640080"/>
          </a:xfrm>
          <a:prstGeom prst="rect">
            <a:avLst/>
          </a:prstGeom>
          <a:noFill/>
          <a:ln/>
        </p:spPr>
        <p:txBody>
          <a:bodyPr wrap="square" rtlCol="0" anchor="ctr"/>
          <a:lstStyle/>
          <a:p>
            <a:pPr indent="0" marL="0">
              <a:buNone/>
            </a:pPr>
            <a:r>
              <a:rPr lang="en-US" sz="1500" b="1" dirty="0">
                <a:solidFill>
                  <a:srgbClr val="F6ECD8"/>
                </a:solidFill>
                <a:latin typeface="Segoe UI" pitchFamily="34" charset="0"/>
                <a:ea typeface="Segoe UI" pitchFamily="34" charset="-122"/>
                <a:cs typeface="Segoe UI" pitchFamily="34" charset="-120"/>
              </a:rPr>
              <a:t>Hoàn thiện art pass</a:t>
            </a:r>
            <a:endParaRPr lang="en-US" sz="1500" dirty="0"/>
          </a:p>
        </p:txBody>
      </p:sp>
      <p:sp>
        <p:nvSpPr>
          <p:cNvPr id="16" name="Text 14"/>
          <p:cNvSpPr/>
          <p:nvPr/>
        </p:nvSpPr>
        <p:spPr>
          <a:xfrm>
            <a:off x="4937760" y="4206240"/>
            <a:ext cx="6248095" cy="731520"/>
          </a:xfrm>
          <a:prstGeom prst="rect">
            <a:avLst/>
          </a:prstGeom>
          <a:noFill/>
          <a:ln/>
        </p:spPr>
        <p:txBody>
          <a:bodyPr wrap="square" rtlCol="0" anchor="ctr"/>
          <a:lstStyle/>
          <a:p>
            <a:pPr indent="0" marL="0">
              <a:lnSpc>
                <a:spcPct val="125000"/>
              </a:lnSpc>
              <a:buNone/>
            </a:pPr>
            <a:r>
              <a:rPr lang="en-US" sz="1250" dirty="0">
                <a:solidFill>
                  <a:srgbClr val="C9BAA0"/>
                </a:solidFill>
                <a:latin typeface="Segoe UI" pitchFamily="34" charset="0"/>
                <a:ea typeface="Segoe UI" pitchFamily="34" charset="-122"/>
                <a:cs typeface="Segoe UI" pitchFamily="34" charset="-120"/>
              </a:rPr>
              <a:t>Đồng bộ màu sắc/rendering các màn hình phụ (Cửa hàng, Điểm Danh) với gameplay chính.</a:t>
            </a:r>
            <a:endParaRPr lang="en-US" sz="1250" dirty="0"/>
          </a:p>
        </p:txBody>
      </p:sp>
      <p:sp>
        <p:nvSpPr>
          <p:cNvPr id="17" name="Shape 15"/>
          <p:cNvSpPr/>
          <p:nvPr/>
        </p:nvSpPr>
        <p:spPr>
          <a:xfrm>
            <a:off x="822960" y="5212080"/>
            <a:ext cx="10545775" cy="914400"/>
          </a:xfrm>
          <a:prstGeom prst="roundRect">
            <a:avLst>
              <a:gd name="adj" fmla="val 6000"/>
            </a:avLst>
          </a:prstGeom>
          <a:solidFill>
            <a:srgbClr val="241A10">
              <a:alpha val="75000"/>
            </a:srgbClr>
          </a:solidFill>
          <a:ln w="9525">
            <a:solidFill>
              <a:srgbClr val="E8B64C">
                <a:alpha val="55000"/>
              </a:srgbClr>
            </a:solidFill>
            <a:prstDash val="solid"/>
          </a:ln>
        </p:spPr>
      </p:sp>
      <p:sp>
        <p:nvSpPr>
          <p:cNvPr id="18" name="Text 16"/>
          <p:cNvSpPr/>
          <p:nvPr/>
        </p:nvSpPr>
        <p:spPr>
          <a:xfrm>
            <a:off x="1005840" y="5394960"/>
            <a:ext cx="548640" cy="548640"/>
          </a:xfrm>
          <a:prstGeom prst="rect">
            <a:avLst/>
          </a:prstGeom>
          <a:noFill/>
          <a:ln/>
        </p:spPr>
        <p:txBody>
          <a:bodyPr wrap="square" rtlCol="0" anchor="ctr"/>
          <a:lstStyle/>
          <a:p>
            <a:pPr indent="0" marL="0">
              <a:buNone/>
            </a:pPr>
            <a:r>
              <a:rPr lang="en-US" sz="2200" dirty="0">
                <a:solidFill>
                  <a:srgbClr val="E8B64C"/>
                </a:solidFill>
                <a:latin typeface="Georgia" pitchFamily="34" charset="0"/>
                <a:ea typeface="Georgia" pitchFamily="34" charset="-122"/>
                <a:cs typeface="Georgia" pitchFamily="34" charset="-120"/>
              </a:rPr>
              <a:t>4</a:t>
            </a:r>
            <a:endParaRPr lang="en-US" sz="2200" dirty="0"/>
          </a:p>
        </p:txBody>
      </p:sp>
      <p:sp>
        <p:nvSpPr>
          <p:cNvPr id="19" name="Text 17"/>
          <p:cNvSpPr/>
          <p:nvPr/>
        </p:nvSpPr>
        <p:spPr>
          <a:xfrm>
            <a:off x="1737360" y="5330952"/>
            <a:ext cx="3108960" cy="640080"/>
          </a:xfrm>
          <a:prstGeom prst="rect">
            <a:avLst/>
          </a:prstGeom>
          <a:noFill/>
          <a:ln/>
        </p:spPr>
        <p:txBody>
          <a:bodyPr wrap="square" rtlCol="0" anchor="ctr"/>
          <a:lstStyle/>
          <a:p>
            <a:pPr indent="0" marL="0">
              <a:buNone/>
            </a:pPr>
            <a:r>
              <a:rPr lang="en-US" sz="1500" b="1" dirty="0">
                <a:solidFill>
                  <a:srgbClr val="F6ECD8"/>
                </a:solidFill>
                <a:latin typeface="Segoe UI" pitchFamily="34" charset="0"/>
                <a:ea typeface="Segoe UI" pitchFamily="34" charset="-122"/>
                <a:cs typeface="Segoe UI" pitchFamily="34" charset="-120"/>
              </a:rPr>
              <a:t>Đóng gói &amp; phát hành</a:t>
            </a:r>
            <a:endParaRPr lang="en-US" sz="1500" dirty="0"/>
          </a:p>
        </p:txBody>
      </p:sp>
      <p:sp>
        <p:nvSpPr>
          <p:cNvPr id="20" name="Text 18"/>
          <p:cNvSpPr/>
          <p:nvPr/>
        </p:nvSpPr>
        <p:spPr>
          <a:xfrm>
            <a:off x="4937760" y="5303520"/>
            <a:ext cx="6248095" cy="731520"/>
          </a:xfrm>
          <a:prstGeom prst="rect">
            <a:avLst/>
          </a:prstGeom>
          <a:noFill/>
          <a:ln/>
        </p:spPr>
        <p:txBody>
          <a:bodyPr wrap="square" rtlCol="0" anchor="ctr"/>
          <a:lstStyle/>
          <a:p>
            <a:pPr indent="0" marL="0">
              <a:lnSpc>
                <a:spcPct val="125000"/>
              </a:lnSpc>
              <a:buNone/>
            </a:pPr>
            <a:r>
              <a:rPr lang="en-US" sz="1250" dirty="0">
                <a:solidFill>
                  <a:srgbClr val="C9BAA0"/>
                </a:solidFill>
                <a:latin typeface="Segoe UI" pitchFamily="34" charset="0"/>
                <a:ea typeface="Segoe UI" pitchFamily="34" charset="-122"/>
                <a:cs typeface="Segoe UI" pitchFamily="34" charset="-120"/>
              </a:rPr>
              <a:t>Chốt nền tảng phát hành, cắm SDK quảng cáo thật (đã có lớp no-op sẵn).</a:t>
            </a:r>
            <a:endParaRPr lang="en-US" sz="1250" dirty="0"/>
          </a:p>
        </p:txBody>
      </p:sp>
      <p:sp>
        <p:nvSpPr>
          <p:cNvPr id="21" name="Text 19"/>
          <p:cNvSpPr/>
          <p:nvPr/>
        </p:nvSpPr>
        <p:spPr>
          <a:xfrm>
            <a:off x="502920" y="6400800"/>
            <a:ext cx="4572000" cy="320040"/>
          </a:xfrm>
          <a:prstGeom prst="rect">
            <a:avLst/>
          </a:prstGeom>
          <a:noFill/>
          <a:ln/>
        </p:spPr>
        <p:txBody>
          <a:bodyPr wrap="square" rtlCol="0" anchor="ctr"/>
          <a:lstStyle/>
          <a:p>
            <a:pPr algn="l" indent="0" marL="0">
              <a:buNone/>
            </a:pPr>
            <a:r>
              <a:rPr lang="en-US" sz="1000" spc="200" kern="0" dirty="0">
                <a:solidFill>
                  <a:srgbClr val="C9BAA0"/>
                </a:solidFill>
                <a:latin typeface="Segoe UI" pitchFamily="34" charset="0"/>
                <a:ea typeface="Segoe UI" pitchFamily="34" charset="-122"/>
                <a:cs typeface="Segoe UI" pitchFamily="34" charset="-120"/>
              </a:rPr>
              <a:t>MAHJONG × BLOCK</a:t>
            </a:r>
            <a:endParaRPr lang="en-US" sz="1000" dirty="0"/>
          </a:p>
        </p:txBody>
      </p:sp>
      <p:sp>
        <p:nvSpPr>
          <p:cNvPr id="22" name="Text 20"/>
          <p:cNvSpPr/>
          <p:nvPr/>
        </p:nvSpPr>
        <p:spPr>
          <a:xfrm>
            <a:off x="11185855" y="6400800"/>
            <a:ext cx="548640" cy="320040"/>
          </a:xfrm>
          <a:prstGeom prst="rect">
            <a:avLst/>
          </a:prstGeom>
          <a:noFill/>
          <a:ln/>
        </p:spPr>
        <p:txBody>
          <a:bodyPr wrap="square" rtlCol="0" anchor="ctr"/>
          <a:lstStyle/>
          <a:p>
            <a:pPr algn="r" indent="0" marL="0">
              <a:buNone/>
            </a:pPr>
            <a:r>
              <a:rPr lang="en-US" sz="1000" dirty="0">
                <a:solidFill>
                  <a:srgbClr val="C9BAA0"/>
                </a:solidFill>
                <a:latin typeface="Segoe UI" pitchFamily="34" charset="0"/>
                <a:ea typeface="Segoe UI" pitchFamily="34" charset="-122"/>
                <a:cs typeface="Segoe U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2468880"/>
            <a:ext cx="12191695" cy="1005840"/>
          </a:xfrm>
          <a:prstGeom prst="rect">
            <a:avLst/>
          </a:prstGeom>
          <a:noFill/>
          <a:ln/>
        </p:spPr>
        <p:txBody>
          <a:bodyPr wrap="square" rtlCol="0" anchor="ctr"/>
          <a:lstStyle/>
          <a:p>
            <a:pPr algn="ctr" indent="0" marL="0">
              <a:buNone/>
            </a:pPr>
            <a:r>
              <a:rPr lang="en-US" sz="6000" dirty="0">
                <a:solidFill>
                  <a:srgbClr val="E8B64C"/>
                </a:solidFill>
                <a:latin typeface="Georgia" pitchFamily="34" charset="0"/>
                <a:ea typeface="Georgia" pitchFamily="34" charset="-122"/>
                <a:cs typeface="Georgia" pitchFamily="34" charset="-120"/>
              </a:rPr>
              <a:t>CẢM ƠN</a:t>
            </a:r>
            <a:endParaRPr lang="en-US" sz="6000" dirty="0"/>
          </a:p>
        </p:txBody>
      </p:sp>
      <p:sp>
        <p:nvSpPr>
          <p:cNvPr id="3" name="Text 1"/>
          <p:cNvSpPr/>
          <p:nvPr/>
        </p:nvSpPr>
        <p:spPr>
          <a:xfrm>
            <a:off x="0" y="3429000"/>
            <a:ext cx="12191695" cy="548640"/>
          </a:xfrm>
          <a:prstGeom prst="rect">
            <a:avLst/>
          </a:prstGeom>
          <a:noFill/>
          <a:ln/>
        </p:spPr>
        <p:txBody>
          <a:bodyPr wrap="square" rtlCol="0" anchor="ctr"/>
          <a:lstStyle/>
          <a:p>
            <a:pPr algn="ctr" indent="0" marL="0">
              <a:buNone/>
            </a:pPr>
            <a:r>
              <a:rPr lang="en-US" sz="1800" spc="200" kern="0" dirty="0">
                <a:solidFill>
                  <a:srgbClr val="C9BAA0"/>
                </a:solidFill>
                <a:latin typeface="Segoe UI" pitchFamily="34" charset="0"/>
                <a:ea typeface="Segoe UI" pitchFamily="34" charset="-122"/>
                <a:cs typeface="Segoe UI" pitchFamily="34" charset="-120"/>
              </a:rPr>
              <a:t>Câu hỏi &amp; thảo luận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Mahjong × Block</dc:title>
  <dc:subject>PptxGenJS Presentation</dc:subject>
  <dc:creator>Mahjong × Block</dc:creator>
  <cp:lastModifiedBy>Mahjong × Block</cp:lastModifiedBy>
  <cp:revision>1</cp:revision>
  <dcterms:created xsi:type="dcterms:W3CDTF">2026-09-07T07:55:31Z</dcterms:created>
  <dcterms:modified xsi:type="dcterms:W3CDTF">2026-09-07T07:55:31Z</dcterms:modified>
</cp:coreProperties>
</file>