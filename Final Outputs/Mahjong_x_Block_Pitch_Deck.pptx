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22196a69140ac" /><Relationship Type="http://schemas.openxmlformats.org/officeDocument/2006/relationships/extended-properties" Target="/docProps/app.xml" Id="R32f309c4fdf04548" /><Relationship Type="http://schemas.openxmlformats.org/officeDocument/2006/relationships/officeDocument" Target="/ppt/presentation.xml" Id="R419a46c9c52746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54a46879564a30"/>
  </p:sldMasterIdLst>
  <p:notesMasterIdLst>
    <p:notesMasterId xmlns:r="http://schemas.openxmlformats.org/officeDocument/2006/relationships" r:id="Rc06a039220a04547"/>
  </p:notesMasterIdLst>
  <p:sldIdLst>
    <p:sldId xmlns:r="http://schemas.openxmlformats.org/officeDocument/2006/relationships" id="256" r:id="R5ead7c0eaa644790"/>
    <p:sldId xmlns:r="http://schemas.openxmlformats.org/officeDocument/2006/relationships" id="257" r:id="Rc7a681c07ae04d3e"/>
    <p:sldId xmlns:r="http://schemas.openxmlformats.org/officeDocument/2006/relationships" id="258" r:id="R290d7c35b542447f"/>
    <p:sldId xmlns:r="http://schemas.openxmlformats.org/officeDocument/2006/relationships" id="259" r:id="Rabc9f18dc7dd4928"/>
    <p:sldId xmlns:r="http://schemas.openxmlformats.org/officeDocument/2006/relationships" id="260" r:id="R65b52c14518f40d3"/>
    <p:sldId xmlns:r="http://schemas.openxmlformats.org/officeDocument/2006/relationships" id="261" r:id="R22fdc6bc996f47a3"/>
    <p:sldId xmlns:r="http://schemas.openxmlformats.org/officeDocument/2006/relationships" id="262" r:id="R33afe45fbd1f4d44"/>
    <p:sldId xmlns:r="http://schemas.openxmlformats.org/officeDocument/2006/relationships" id="263" r:id="R73abe4dba70e42ed"/>
    <p:sldId xmlns:r="http://schemas.openxmlformats.org/officeDocument/2006/relationships" id="264" r:id="R405637ae2d114325"/>
    <p:sldId xmlns:r="http://schemas.openxmlformats.org/officeDocument/2006/relationships" id="265" r:id="Rd0f90b44f0bc4c3f"/>
    <p:sldId xmlns:r="http://schemas.openxmlformats.org/officeDocument/2006/relationships" id="266" r:id="R206650b8d766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3fde6efd524987" /><Relationship Type="http://schemas.openxmlformats.org/officeDocument/2006/relationships/slideMaster" Target="/ppt/slideMasters/slideMaster1.xml" Id="R4154a46879564a30" /><Relationship Type="http://schemas.openxmlformats.org/officeDocument/2006/relationships/notesMaster" Target="/ppt/notesMasters/notesMaster1.xml" Id="Rc06a039220a04547" /><Relationship Type="http://schemas.openxmlformats.org/officeDocument/2006/relationships/presProps" Target="/ppt/presProps.xml" Id="R19a75c03396e4b6d" /><Relationship Type="http://schemas.openxmlformats.org/officeDocument/2006/relationships/tableStyles" Target="/ppt/tableStyles.xml" Id="R7b78c4aacbb54c95" /><Relationship Type="http://schemas.openxmlformats.org/officeDocument/2006/relationships/slide" Target="/ppt/slides/slide1.xml" Id="R5ead7c0eaa644790" /><Relationship Type="http://schemas.openxmlformats.org/officeDocument/2006/relationships/slide" Target="/ppt/slides/slide2.xml" Id="Rc7a681c07ae04d3e" /><Relationship Type="http://schemas.openxmlformats.org/officeDocument/2006/relationships/slide" Target="/ppt/slides/slide3.xml" Id="R290d7c35b542447f" /><Relationship Type="http://schemas.openxmlformats.org/officeDocument/2006/relationships/slide" Target="/ppt/slides/slide4.xml" Id="Rabc9f18dc7dd4928" /><Relationship Type="http://schemas.openxmlformats.org/officeDocument/2006/relationships/slide" Target="/ppt/slides/slide5.xml" Id="R65b52c14518f40d3" /><Relationship Type="http://schemas.openxmlformats.org/officeDocument/2006/relationships/slide" Target="/ppt/slides/slide6.xml" Id="R22fdc6bc996f47a3" /><Relationship Type="http://schemas.openxmlformats.org/officeDocument/2006/relationships/slide" Target="/ppt/slides/slide7.xml" Id="R33afe45fbd1f4d44" /><Relationship Type="http://schemas.openxmlformats.org/officeDocument/2006/relationships/slide" Target="/ppt/slides/slide8.xml" Id="R73abe4dba70e42ed" /><Relationship Type="http://schemas.openxmlformats.org/officeDocument/2006/relationships/slide" Target="/ppt/slides/slide9.xml" Id="R405637ae2d114325" /><Relationship Type="http://schemas.openxmlformats.org/officeDocument/2006/relationships/slide" Target="/ppt/slides/slide10.xml" Id="Rd0f90b44f0bc4c3f" /><Relationship Type="http://schemas.openxmlformats.org/officeDocument/2006/relationships/slide" Target="/ppt/slides/slide11.xml" Id="R206650b8d766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adea28e5841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e2e636feaf49f9" /><Relationship Type="http://schemas.openxmlformats.org/officeDocument/2006/relationships/notesMaster" Target="/ppt/notesMasters/notesMaster1.xml" Id="Re337f1760e294d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1f0cc89433458a" /><Relationship Type="http://schemas.openxmlformats.org/officeDocument/2006/relationships/notesMaster" Target="/ppt/notesMasters/notesMaster1.xml" Id="R25af823ca29240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df0e5b40e4bcd" /><Relationship Type="http://schemas.openxmlformats.org/officeDocument/2006/relationships/notesMaster" Target="/ppt/notesMasters/notesMaster1.xml" Id="Rfcbd5a16e30a49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fb9a6bb23f4aea" /><Relationship Type="http://schemas.openxmlformats.org/officeDocument/2006/relationships/notesMaster" Target="/ppt/notesMasters/notesMaster1.xml" Id="Rf6f1a6da83554a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6d44f9450a4ce6" /><Relationship Type="http://schemas.openxmlformats.org/officeDocument/2006/relationships/notesMaster" Target="/ppt/notesMasters/notesMaster1.xml" Id="R342b29f5d69a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349ea6dc0241a9" /><Relationship Type="http://schemas.openxmlformats.org/officeDocument/2006/relationships/notesMaster" Target="/ppt/notesMasters/notesMaster1.xml" Id="R8b0a17ea903f4e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8ae91b8974d62" /><Relationship Type="http://schemas.openxmlformats.org/officeDocument/2006/relationships/notesMaster" Target="/ppt/notesMasters/notesMaster1.xml" Id="Ra22e96d37b0047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0a6f3e97104ffe" /><Relationship Type="http://schemas.openxmlformats.org/officeDocument/2006/relationships/notesMaster" Target="/ppt/notesMasters/notesMaster1.xml" Id="R167a57033f994e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7cd40f52b84a84" /><Relationship Type="http://schemas.openxmlformats.org/officeDocument/2006/relationships/notesMaster" Target="/ppt/notesMasters/notesMaster1.xml" Id="R72d5e1837f754c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888ab534f449a3" /><Relationship Type="http://schemas.openxmlformats.org/officeDocument/2006/relationships/notesMaster" Target="/ppt/notesMasters/notesMaster1.xml" Id="Rad379b54ed7740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03e8faa0f944e9" /><Relationship Type="http://schemas.openxmlformats.org/officeDocument/2006/relationships/notesMaster" Target="/ppt/notesMasters/notesMaster1.xml" Id="Rcf0f148ab687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</a:t>
            </a:r>
          </a:p>
          <a:p xmlns:a="http://schemas.openxmlformats.org/drawingml/2006/main">
            <a:r>
              <a:t>- Figma UI Export/01_menu_gate_closed.png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1 và 2.1–2.3</a:t>
            </a:r>
          </a:p>
          <a:p xmlns:a="http://schemas.openxmlformats.org/drawingml/2006/main">
            <a:r>
              <a:t>- Figma UI Export/05_gameplay.png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2.1 và 2.3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2.3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3 và 5</a:t>
            </a:r>
          </a:p>
          <a:p xmlns:a="http://schemas.openxmlformats.org/drawingml/2006/main">
            <a:r>
              <a:t>- Figma UI Export/03_levelselect_top.png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4, 5 và 9.4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2.5 và 7.2</a:t>
            </a:r>
          </a:p>
          <a:p xmlns:a="http://schemas.openxmlformats.org/drawingml/2006/main">
            <a:r>
              <a:t>- Figma UI Export/07_shop_upgrades.png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8</a:t>
            </a:r>
          </a:p>
          <a:p xmlns:a="http://schemas.openxmlformats.org/drawingml/2006/main">
            <a:r>
              <a:t>- Figma UI Export/10_quest_tab.png</a:t>
            </a:r>
          </a:p>
          <a:p xmlns:a="http://schemas.openxmlformats.org/drawingml/2006/main">
            <a:r>
              <a:t>- Figma UI Export/11_checkin_tab.png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7 và 12</a:t>
            </a:r>
          </a:p>
          <a:p xmlns:a="http://schemas.openxmlformats.org/drawingml/2006/main">
            <a:r>
              <a:t>- Figma UI Export/06_shop_tiles.png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6, 11.1, 11.3 và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Final/07-GDD-TONG-HOP-TU-INDEX.md, mục 6 và 12</a:t>
            </a:r>
          </a:p>
          <a:p xmlns:a="http://schemas.openxmlformats.org/drawingml/2006/main">
            <a:r>
              <a:t>- Figma UI Export/01_menu_gate_closed.png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8ff199d6545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f127582064114" /><Relationship Type="http://schemas.openxmlformats.org/officeDocument/2006/relationships/slideLayout" Target="/ppt/slideLayouts/slideLayout1.xml" Id="Rde92cf191a4a43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92cf191a4a43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04c8d59d540a5" /><Relationship Type="http://schemas.openxmlformats.org/officeDocument/2006/relationships/image" Target="/ppt/media/image.png" Id="Rb4b152d9be0d4c4c" /><Relationship Type="http://schemas.openxmlformats.org/officeDocument/2006/relationships/notesSlide" Target="/ppt/notesSlides/notesSlide1.xml" Id="R67050ad85bd5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e1b8e25044dd1" /><Relationship Type="http://schemas.openxmlformats.org/officeDocument/2006/relationships/image" Target="/ppt/media/image2.png" Id="R5c64219ac88a4e53" /><Relationship Type="http://schemas.openxmlformats.org/officeDocument/2006/relationships/notesSlide" Target="/ppt/notesSlides/notesSlide2.xml" Id="R780bdd951d6242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9deef14bb4caa" /><Relationship Type="http://schemas.openxmlformats.org/officeDocument/2006/relationships/notesSlide" Target="/ppt/notesSlides/notesSlide3.xml" Id="R53853b3f7bd94e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97285d200403e" /><Relationship Type="http://schemas.openxmlformats.org/officeDocument/2006/relationships/notesSlide" Target="/ppt/notesSlides/notesSlide4.xml" Id="R7c55e44763354a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7e519484d4662" /><Relationship Type="http://schemas.openxmlformats.org/officeDocument/2006/relationships/chart" Target="/ppt/slides/charts/chart1.xml" Id="R7a52f480d20c4c5e" /><Relationship Type="http://schemas.openxmlformats.org/officeDocument/2006/relationships/image" Target="/ppt/media/image3.png" Id="R19f5ac28f3bc443f" /><Relationship Type="http://schemas.openxmlformats.org/officeDocument/2006/relationships/notesSlide" Target="/ppt/notesSlides/notesSlide5.xml" Id="R59ff62ea560b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a9e7439284eb7" /><Relationship Type="http://schemas.openxmlformats.org/officeDocument/2006/relationships/notesSlide" Target="/ppt/notesSlides/notesSlide6.xml" Id="Re2c1a77c5a0b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32746927f43ba" /><Relationship Type="http://schemas.openxmlformats.org/officeDocument/2006/relationships/image" Target="/ppt/media/image4.png" Id="R47970d4412b94574" /><Relationship Type="http://schemas.openxmlformats.org/officeDocument/2006/relationships/notesSlide" Target="/ppt/notesSlides/notesSlide7.xml" Id="R6afb968880c74c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1d894db674fff" /><Relationship Type="http://schemas.openxmlformats.org/officeDocument/2006/relationships/image" Target="/ppt/media/image5.png" Id="R960faaca480f4276" /><Relationship Type="http://schemas.openxmlformats.org/officeDocument/2006/relationships/image" Target="/ppt/media/image6.png" Id="R6735cb89ff184cd3" /><Relationship Type="http://schemas.openxmlformats.org/officeDocument/2006/relationships/notesSlide" Target="/ppt/notesSlides/notesSlide8.xml" Id="R6b8c49acd1864e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2e1a0af804359" /><Relationship Type="http://schemas.openxmlformats.org/officeDocument/2006/relationships/image" Target="/ppt/media/image7.png" Id="Rc9cf5eb85fb849eb" /><Relationship Type="http://schemas.openxmlformats.org/officeDocument/2006/relationships/notesSlide" Target="/ppt/notesSlides/notesSlide9.xml" Id="R5717c8d2125c46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f129946674668" /><Relationship Type="http://schemas.openxmlformats.org/officeDocument/2006/relationships/notesSlide" Target="/ppt/notesSlides/notesSlide10.xml" Id="R2ad81a0b823145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e32bf94ac4f83" /><Relationship Type="http://schemas.openxmlformats.org/officeDocument/2006/relationships/image" Target="/ppt/media/image8.png" Id="R79ca0a51763c4ce5" /><Relationship Type="http://schemas.openxmlformats.org/officeDocument/2006/relationships/notesSlide" Target="/ppt/notesSlides/notesSlide11.xml" Id="R5c1b8491371142c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Số level</c:v>
          </c:tx>
          <c:spPr>
            <a:solidFill xmlns:a="http://schemas.openxmlformats.org/drawingml/2006/main">
              <a:srgbClr val="E8B64C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86A94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33A26"/>
              </a:solidFill>
            </c:spPr>
          </c:dPt>
          <c:cat>
            <c:strLit>
              <c:ptCount val="4"/>
              <c:pt idx="0">
                <c:v>TILE QUOTA</c:v>
              </c:pt>
              <c:pt idx="1">
                <c:v>TARGET FACE</c:v>
              </c:pt>
              <c:pt idx="2">
                <c:v>OPEN SEAL</c:v>
              </c:pt>
              <c:pt idx="3">
                <c:v>BURIED TARGET</c:v>
              </c:pt>
            </c:strLit>
          </c:cat>
          <c:val>
            <c:numLit>
              <c:formatCode>General</c:formatCode>
              <c:ptCount val="4"/>
              <c:pt idx="0">
                <c:v>5</c:v>
              </c:pt>
              <c:pt idx="1">
                <c:v>32</c:v>
              </c:pt>
              <c:pt idx="2">
                <c:v>6</c:v>
              </c:pt>
              <c:pt idx="3">
                <c:v>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6ECD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B572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6ECD8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B1009"/>
        </a:solidFill>
        <a:ln xmlns:a="http://schemas.openxmlformats.org/drawingml/2006/main" w="0">
          <a:solidFill>
            <a:srgbClr val="1B1009"/>
          </a:solidFill>
          <a:prstDash val="solid"/>
        </a:ln>
      </c:spPr>
    </c:plotArea>
    <c:plotVisOnly val="1"/>
  </c:chart>
  <c:spPr>
    <a:solidFill xmlns:a="http://schemas.openxmlformats.org/drawingml/2006/main">
      <a:srgbClr val="1B1009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152d9be0d4c4c"/>
          <a:srcRect xmlns:a="http://schemas.openxmlformats.org/drawingml/2006/main" l="0" t="14606" r="0" b="14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E76F-0F89-4934-8072-D50EA6FF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28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009"/>
          </a:solidFill>
          <a:ln xmlns:a="http://schemas.openxmlformats.org/drawingml/2006/main" w="0">
            <a:solidFill>
              <a:srgbClr val="1B100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98E42-BBB3-4FCD-9D1D-78CA7C98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314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60689-FEB2-4830-8D52-8023C236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6ECD8"/>
                </a:solidFill>
              </a:defRPr>
            </a:pPr>
            <a:r>
              <a:rPr sz="4200" b="1">
                <a:solidFill>
                  <a:srgbClr val="F6ECD8"/>
                </a:solidFill>
              </a:rPr>
              <a:t>MAHJONG × BLOCK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177C-8C04-463F-A1F0-C953DEB9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B64C"/>
                </a:solidFill>
              </a:defRPr>
            </a:pPr>
            <a:r>
              <a:rPr sz="1725" b="1">
                <a:solidFill>
                  <a:srgbClr val="E8B64C"/>
                </a:solidFill>
              </a:rPr>
              <a:t>Pitch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0ECBB-6D8C-4265-8C44-781BD5D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DBB9E"/>
                </a:solidFill>
              </a:defRPr>
            </a:pPr>
            <a:r>
              <a:rPr sz="2250" b="0">
                <a:solidFill>
                  <a:srgbClr val="CDBB9E"/>
                </a:solidFill>
              </a:rPr>
              <a:t>Puzzle thả khối lai mạt chược</a:t>
            </a:r>
          </a:p>
          <a:p xmlns:a="http://schemas.openxmlformats.org/drawingml/2006/main">
            <a:pPr algn="l">
              <a:defRPr sz="2250" b="0">
                <a:solidFill>
                  <a:srgbClr val="CDBB9E"/>
                </a:solidFill>
              </a:defRPr>
            </a:pPr>
            <a:r>
              <a:rPr sz="2250" b="0">
                <a:solidFill>
                  <a:srgbClr val="CDBB9E"/>
                </a:solidFill>
              </a:rPr>
              <a:t>trên bàn cờ hai tầng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E7E85-D9FD-4E53-B718-42F3B72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Bản trình bày dựa trên GDD và bản game hiện có</a:t>
            </a:r>
          </a:p>
        </p:txBody>
      </p:sp>
    </p:spTree>
    <p:extLst>
      <p:ext uri="{BB962C8B-B14F-4D97-AF65-F5344CB8AC3E}">
        <p14:creationId xmlns:p14="http://schemas.microsoft.com/office/powerpoint/2010/main" val="2141655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E90BB-91A0-4110-BD51-75C718E4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80416-143D-4C87-B65E-511E7F8C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CORE HOOK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19373-F772-4738-B61A-A46A060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9B74D-53FD-4A58-9797-012C1426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D8AD8-4700-45E9-8ED3-20318F4C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DF22E-DDA5-4E11-B7DA-64ED497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Không chọn cặp có sẵn — người chơi tạo ra cơ hội ghép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67B4E-FF4E-46A3-8731-729AC553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C314B-251D-48DA-81B5-04C5323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Mỗi lượt là một quyết định đặt polyomino, không phải thao tác chọn hai quân.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CF7F6-736F-4803-B9CA-6EF44A0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4958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4441B-7EA8-4625-B94C-641CBBB9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B64C"/>
                </a:solidFill>
              </a:defRPr>
            </a:pPr>
            <a:r>
              <a:rPr sz="1575" b="1">
                <a:solidFill>
                  <a:srgbClr val="E8B64C"/>
                </a:solidFill>
              </a:rPr>
              <a:t>Điểm khác biệt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9FB37-10C1-4CF1-A697-3C75D31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3543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6ECD8"/>
                </a:solidFill>
              </a:defRPr>
            </a:pPr>
            <a:r>
              <a:rPr sz="1725" b="0">
                <a:solidFill>
                  <a:srgbClr val="F6ECD8"/>
                </a:solidFill>
              </a:rPr>
              <a:t>Thả một khối nhiều ô vào vị trí hợp lệ. Từng ô rơi độc lập xuống tầng trống thấp nhất của cột đó.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6D089-4F66-47CE-8F72-A36BFFA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29125"/>
            <a:ext cx="3543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B9E"/>
                </a:solidFill>
              </a:defRPr>
            </a:pPr>
            <a:r>
              <a:rPr sz="1425" b="0">
                <a:solidFill>
                  <a:srgbClr val="CDBB9E"/>
                </a:solidFill>
              </a:rPr>
              <a:t>Từ đó, người chơi chủ động tạo, che và lộ các quân để chuẩn bị Match.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4219ac88a4e53"/>
          <a:srcRect xmlns:a="http://schemas.openxmlformats.org/drawingml/2006/main" l="0" t="32694" r="0" b="326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038350"/>
            <a:ext cx="5010150" cy="3752850"/>
          </a:xfrm>
          <a:prstGeom xmlns:a="http://schemas.openxmlformats.org/drawingml/2006/main" prst="roundRect">
            <a:avLst>
              <a:gd name="adj" fmla="val 304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AC510-E1E9-4AFE-B08E-3B160F54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86450"/>
            <a:ext cx="501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DBB9E"/>
                </a:solidFill>
              </a:defRPr>
            </a:pPr>
            <a:r>
              <a:rPr sz="1050" b="0">
                <a:solidFill>
                  <a:srgbClr val="CDBB9E"/>
                </a:solidFill>
              </a:rPr>
              <a:t>Gameplay hiện có: Current / Next, bàn 2 tầng, booster</a:t>
            </a:r>
          </a:p>
        </p:txBody>
      </p:sp>
    </p:spTree>
    <p:extLst>
      <p:ext uri="{BB962C8B-B14F-4D97-AF65-F5344CB8AC3E}">
        <p14:creationId xmlns:p14="http://schemas.microsoft.com/office/powerpoint/2010/main" val="415454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D29E1-0AD6-42D1-B97D-030D47D7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1DAE2-C4DE-4730-8623-396A4696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CORE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2A6C-527F-4C0B-BB8E-3F651F68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98451-1149-4426-BFB0-9A13DF0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6CEBC-27F3-421E-AA85-96395251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2B86C-BBE3-48BB-AAE9-ADA4099D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Hai tầng biến “lộ mặt” thành một lựa chọn chiến thuật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99A37-264C-468B-B712-E4C1C5A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B8DE4-B58E-43E7-B779-530D20E0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Chỉ quân cùng mặt, cùng tầng, kề cạnh và đang lộ mới Match.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BE5BE-AA7D-4D5C-9BC6-D0397F5C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857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E3495-F8F1-47D0-8C31-30697575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B64C"/>
                </a:solidFill>
              </a:defRPr>
            </a:pPr>
            <a:r>
              <a:rPr sz="2250" b="1">
                <a:solidFill>
                  <a:srgbClr val="E8B64C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324DB-7EB3-4575-B365-CD7EB721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ECD8"/>
                </a:solidFill>
              </a:defRPr>
            </a:pPr>
            <a:r>
              <a:rPr sz="1725" b="1">
                <a:solidFill>
                  <a:srgbClr val="F6ECD8"/>
                </a:solidFill>
              </a:rPr>
              <a:t>Tầng sàn &amp; mái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5CADD-64C8-48FE-86A1-1DA98FFB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BB9E"/>
                </a:solidFill>
              </a:defRPr>
            </a:pPr>
            <a:r>
              <a:rPr sz="1275" b="0">
                <a:solidFill>
                  <a:srgbClr val="CDBB9E"/>
                </a:solidFill>
              </a:rPr>
              <a:t>Mỗi ô chứa tối đa 2 quân. Khối chỉ rơi khi mọi ô con còn chỗ.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6EC88-4071-414D-AAC5-B719120C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2857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78172-295E-403D-B6CE-46F1E21E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B64C"/>
                </a:solidFill>
              </a:defRPr>
            </a:pPr>
            <a:r>
              <a:rPr sz="2250" b="1">
                <a:solidFill>
                  <a:srgbClr val="E8B64C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0BCFB-7BFE-43DA-8660-8B31659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ECD8"/>
                </a:solidFill>
              </a:defRPr>
            </a:pPr>
            <a:r>
              <a:rPr sz="1725" b="1">
                <a:solidFill>
                  <a:srgbClr val="F6ECD8"/>
                </a:solidFill>
              </a:rPr>
              <a:t>Che để trì hoãn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3B84C-2C71-464B-81BA-64E0B9C3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BB9E"/>
                </a:solidFill>
              </a:defRPr>
            </a:pPr>
            <a:r>
              <a:rPr sz="1275" b="0">
                <a:solidFill>
                  <a:srgbClr val="CDBB9E"/>
                </a:solidFill>
              </a:rPr>
              <a:t>Quân tầng sàn bị mái che không được Match, dù đang kề quân cùng mặt.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E2F28-6A5C-48BD-AA49-BA8BDC2B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14600"/>
            <a:ext cx="28575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D2057-536C-4C88-ABBA-B8244180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B64C"/>
                </a:solidFill>
              </a:defRPr>
            </a:pPr>
            <a:r>
              <a:rPr sz="2250" b="1">
                <a:solidFill>
                  <a:srgbClr val="E8B64C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54BBB-9B62-4A45-BE9F-E88142C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ECD8"/>
                </a:solidFill>
              </a:defRPr>
            </a:pPr>
            <a:r>
              <a:rPr sz="1725" b="1">
                <a:solidFill>
                  <a:srgbClr val="F6ECD8"/>
                </a:solidFill>
              </a:rPr>
              <a:t>Lộ để tạo chuỗi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FF71C-1F1C-4F92-985A-77FB84A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24300"/>
            <a:ext cx="2266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BB9E"/>
                </a:solidFill>
              </a:defRPr>
            </a:pPr>
            <a:r>
              <a:rPr sz="1275" b="0">
                <a:solidFill>
                  <a:srgbClr val="CDBB9E"/>
                </a:solidFill>
              </a:rPr>
              <a:t>Sau khi Match, mái rơi xuống sàn và có thể kích hoạt wave tiếp theo.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3B5CF-F870-437A-9BF2-E7D67D1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985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B64C"/>
                </a:solidFill>
              </a:defRPr>
            </a:pPr>
            <a:r>
              <a:rPr sz="1725" b="1">
                <a:solidFill>
                  <a:srgbClr val="E8B64C"/>
                </a:solidFill>
              </a:rPr>
              <a:t>Tín hiệu thiết kế: “đặt đúng chỗ” quan trọng hơn “đặt thật nhanh”.</a:t>
            </a:r>
          </a:p>
        </p:txBody>
      </p:sp>
    </p:spTree>
    <p:extLst>
      <p:ext uri="{BB962C8B-B14F-4D97-AF65-F5344CB8AC3E}">
        <p14:creationId xmlns:p14="http://schemas.microsoft.com/office/powerpoint/2010/main" val="1413587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E0A57B-80A2-4004-9172-14B9E1A4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6A616-6424-4026-A1F7-5A421382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CORE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64DEA-2DDF-4F2C-9471-3ADC7049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6F23F-ECEF-4107-A441-ECED3A86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3735A-64C5-41AD-929D-7520E24B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45739-9912-42A8-A851-9BDE90B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Core loop tập trung vào đọc bàn, lựa chọn và phản ứng dây chuyền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4722C-37F7-4C15-89A5-24712373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1179-CA79-4FC7-987B-4F50BEA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Một lượt có thể tạo nhiều wave Match liên tiếp.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A9890-D500-4366-8372-FA72A8BF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52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FC59-68B9-4EEA-BACD-EBC4746D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B64C"/>
                </a:solidFill>
              </a:defRPr>
            </a:pPr>
            <a:r>
              <a:rPr sz="1200" b="1">
                <a:solidFill>
                  <a:srgbClr val="E8B64C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9432A-96B9-4556-9A8A-1D1AE15A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CD8"/>
                </a:solidFill>
              </a:defRPr>
            </a:pPr>
            <a:r>
              <a:rPr sz="1800" b="1">
                <a:solidFill>
                  <a:srgbClr val="F6ECD8"/>
                </a:solidFill>
              </a:rPr>
              <a:t>ĐỌC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EE77C-21DD-4899-9CCE-BA772384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Current, Next, các quân đang lộ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BFE11-8AC7-4337-AC24-23A35BDA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290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B64C"/>
                </a:solidFill>
              </a:defRPr>
            </a:pPr>
            <a:r>
              <a:rPr sz="2100" b="1">
                <a:solidFill>
                  <a:srgbClr val="E8B64C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A1FF2-F1FE-4B72-AEAA-80E5C35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57500"/>
            <a:ext cx="2152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02C54-5B53-4CA6-8103-73A25016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B64C"/>
                </a:solidFill>
              </a:defRPr>
            </a:pPr>
            <a:r>
              <a:rPr sz="1200" b="1">
                <a:solidFill>
                  <a:srgbClr val="E8B64C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058FB-0F37-4CD5-AB77-BEFD9FCB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813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CD8"/>
                </a:solidFill>
              </a:defRPr>
            </a:pPr>
            <a:r>
              <a:rPr sz="1800" b="1">
                <a:solidFill>
                  <a:srgbClr val="F6ECD8"/>
                </a:solidFill>
              </a:rPr>
              <a:t>ĐẶT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8723C-E0CF-4AE8-AFCF-0E71C16F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290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Chọn điểm rơi hợp lệ cho cả khối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7128F-845A-4563-8485-5FAA3E65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290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B64C"/>
                </a:solidFill>
              </a:defRPr>
            </a:pPr>
            <a:r>
              <a:rPr sz="2100" b="1">
                <a:solidFill>
                  <a:srgbClr val="E8B64C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70018-B7A1-488B-A81B-E0D2185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57500"/>
            <a:ext cx="2152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278F7-7C9D-4390-86C2-73AD9007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B64C"/>
                </a:solidFill>
              </a:defRPr>
            </a:pPr>
            <a:r>
              <a:rPr sz="1200" b="1">
                <a:solidFill>
                  <a:srgbClr val="E8B64C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09CE6-94E3-4E55-835C-D630739A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813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CD8"/>
                </a:solidFill>
              </a:defRPr>
            </a:pPr>
            <a:r>
              <a:rPr sz="1800" b="1">
                <a:solidFill>
                  <a:srgbClr val="F6ECD8"/>
                </a:solidFill>
              </a:rPr>
              <a:t>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65BF4-921E-4914-AC62-6A6AE824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Nhóm ≥2 quân cùng mặt cùng tầng biến mất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9139AA-52E1-4AE2-BC91-D750D542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B64C"/>
                </a:solidFill>
              </a:defRPr>
            </a:pPr>
            <a:r>
              <a:rPr sz="2100" b="1">
                <a:solidFill>
                  <a:srgbClr val="E8B64C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873309-CCC0-4E73-AAB9-0080A3E5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152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B33A26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1F409-A630-4B9E-B923-66A04E7A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B64C"/>
                </a:solidFill>
              </a:defRPr>
            </a:pPr>
            <a:r>
              <a:rPr sz="1200" b="1">
                <a:solidFill>
                  <a:srgbClr val="E8B64C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2616B-3612-4040-8223-CA35DEA6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813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ECD8"/>
                </a:solidFill>
              </a:defRPr>
            </a:pPr>
            <a:r>
              <a:rPr sz="1800" b="1">
                <a:solidFill>
                  <a:srgbClr val="F6ECD8"/>
                </a:solidFill>
              </a:rPr>
              <a:t>CASCADE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57F0D-6CF1-4D64-A590-63E75B03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290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Mái rơi xuống, tạo wave mới nếu đủ điều kiện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B6A07-5172-46C2-BB28-4264D1D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Hệ thống tính chuỗi dài nhất trong một lượt để cộng điểm và hỗ trợ nhiệm vụ chain2.</a:t>
            </a:r>
          </a:p>
        </p:txBody>
      </p:sp>
    </p:spTree>
    <p:extLst>
      <p:ext uri="{BB962C8B-B14F-4D97-AF65-F5344CB8AC3E}">
        <p14:creationId xmlns:p14="http://schemas.microsoft.com/office/powerpoint/2010/main" val="1451063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AB817-C6F7-4EA3-84F2-5EFD0F9D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0EA49-6ED6-4BA8-BCF5-7639973C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8C989-5082-45F0-8BF2-BC2757CA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6681E-6166-4743-B874-2878763F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BECCD-F3F7-48F9-A3DE-0C975BA8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E5CAC-D2CD-4A2D-8928-66F9650B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50 level là một curriculum có mục tiêu rõ ràng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94CE3-09F5-4EA3-AE9B-F2A1D08B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D31AF-2D1B-47F0-84D1-801FB844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5 chương × 10 level; toàn bộ level chính có lượt đi giới hạn và lời giải được kiểm tra.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438400"/>
          <a:ext xmlns:a="http://schemas.openxmlformats.org/drawingml/2006/main" cx="5334000" cy="2800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52f480d20c4c5e"/>
          </a:graphicData>
        </a:graphic>
      </p:graphicFrame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5ac28f3bc443f"/>
          <a:srcRect xmlns:a="http://schemas.openxmlformats.org/drawingml/2006/main" l="0" t="23679" r="0" b="23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15150" y="2209800"/>
            <a:ext cx="3009900" cy="34290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14E1C-41DB-468A-B50B-DE4730D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Phân bố 4 goal type trong 50 level</a:t>
            </a:r>
          </a:p>
        </p:txBody>
      </p:sp>
    </p:spTree>
    <p:extLst>
      <p:ext uri="{BB962C8B-B14F-4D97-AF65-F5344CB8AC3E}">
        <p14:creationId xmlns:p14="http://schemas.microsoft.com/office/powerpoint/2010/main" val="826204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26AFF-F620-493E-9506-A72A1E97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DEEF9-1FAF-4211-B1F7-ACFD95D7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13151-4E05-41BC-AEDE-D43DBED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BAD9B-EC3C-46BD-9C70-E81303EB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EB3FA-C695-4AA9-A51F-3C36B954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BC424-FC38-4589-9A96-C3B9707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Độ khó tăng bằng không gian, áp lực và điều kiện mở khóa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2E2EF-E06A-4B11-B4C5-DE35A3D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98787-1EFE-4EEE-B833-1313E78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Không cần thêm luật Match mới để tạo biến thể màn chơi.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9F84B-796A-47B4-AB56-7C61BBC9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8B64C"/>
                </a:solidFill>
              </a:defRPr>
            </a:pPr>
            <a:r>
              <a:rPr sz="2850" b="1">
                <a:solidFill>
                  <a:srgbClr val="E8B64C"/>
                </a:solidFill>
              </a:rPr>
              <a:t>2×2 → 6×6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B2701-3343-4761-9FC3-F8780E01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kích thước bàn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B37C1-08CD-4A0D-893D-49885843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8B64C"/>
                </a:solidFill>
              </a:defRPr>
            </a:pPr>
            <a:r>
              <a:rPr sz="2850" b="1">
                <a:solidFill>
                  <a:srgbClr val="E8B64C"/>
                </a:solidFill>
              </a:rPr>
              <a:t>1–8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FAEE3-25CF-4A64-B0F7-24C143F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956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lượt đặt khối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6A116-95B4-4040-8BB3-03471591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14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8B64C"/>
                </a:solidFill>
              </a:defRPr>
            </a:pPr>
            <a:r>
              <a:rPr sz="2850" b="1">
                <a:solidFill>
                  <a:srgbClr val="E8B64C"/>
                </a:solidFill>
              </a:rPr>
              <a:t>tới 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4107E-2925-4507-AC67-964A30D6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mặt mục tiêu đồng thời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D2C3B-C91A-4E44-9834-A85AA96F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8B64C"/>
                </a:solidFill>
              </a:defRPr>
            </a:pPr>
            <a:r>
              <a:rPr sz="2850" b="1">
                <a:solidFill>
                  <a:srgbClr val="E8B64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555C4-B18E-4A3B-BB23-D15A95B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5625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level dùng Lock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3FC37-1653-4A73-AE65-CF830957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3B7B1-0D4D-4915-A70F-D98CD1B2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B64C"/>
                </a:solidFill>
              </a:defRPr>
            </a:pPr>
            <a:r>
              <a:rPr sz="1500" b="1">
                <a:solidFill>
                  <a:srgbClr val="E8B64C"/>
                </a:solidFill>
              </a:rPr>
              <a:t>Mốc dạy cụ thể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1E816-CA2F-4DF9-AF1E-A815E748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ECD8"/>
                </a:solidFill>
              </a:defRPr>
            </a:pPr>
            <a:r>
              <a:rPr sz="1500" b="0">
                <a:solidFill>
                  <a:srgbClr val="F6ECD8"/>
                </a:solidFill>
              </a:rPr>
              <a:t>Lv1: Match cùng tầng + lộ mặt  •  Lv11: Phong Ấn đầu tiên  •  Lv21: Ô Chắn  •  Lv46: One Shot  •  Lv50: tổng hợp toàn bộ cơ chế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30D43-C493-4B1B-81D6-C09A9BAC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DBB9E"/>
                </a:solidFill>
              </a:defRPr>
            </a:pPr>
            <a:r>
              <a:rPr sz="1275" b="0">
                <a:solidFill>
                  <a:srgbClr val="CDBB9E"/>
                </a:solidFill>
              </a:rPr>
              <a:t>Chỉ Level 1 dùng bàn tay hướng dẫn; các level sau dạy qua cấu trúc bàn và mục tiêu.</a:t>
            </a:r>
          </a:p>
        </p:txBody>
      </p:sp>
    </p:spTree>
    <p:extLst>
      <p:ext uri="{BB962C8B-B14F-4D97-AF65-F5344CB8AC3E}">
        <p14:creationId xmlns:p14="http://schemas.microsoft.com/office/powerpoint/2010/main" val="1226177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B9A15-BA07-4288-81D1-9BEFB97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1FBE2-C68E-4FAA-A3B7-71AFD1E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C44F6-5EB7-4EC9-9172-4A38926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55153-9C39-4BF4-AD08-D3982A1D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9416A-FF91-4E8D-A9DC-026BF1F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BC9BC-1BE7-45D3-83AB-CAF2CF2B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Booster hỗ trợ quyết định, không thay đổi điều kiện thắng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21736-3B2A-43CD-8966-9D674A09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18F6F-1537-4811-BF6A-9419DB10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Đổi khối và Hint cùng dùng kho chung, nhưng Level 1 cố ý khóa chúng để dạy luật cơ bản.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70d4412b94574"/>
          <a:srcRect xmlns:a="http://schemas.openxmlformats.org/drawingml/2006/main" l="0" t="25902" r="0" b="259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3543300" cy="36957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89D7B-5135-42E2-BC27-91070A2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57450"/>
            <a:ext cx="5391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37AA5-03DD-42AC-981B-A6271688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B64C"/>
                </a:solidFill>
              </a:defRPr>
            </a:pPr>
            <a:r>
              <a:rPr sz="1725" b="1">
                <a:solidFill>
                  <a:srgbClr val="E8B64C"/>
                </a:solidFill>
              </a:rPr>
              <a:t>Đổi khối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12FD6-35E5-46D3-91D4-B8032D30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CD8"/>
                </a:solidFill>
              </a:defRPr>
            </a:pPr>
            <a:r>
              <a:rPr sz="1350" b="0">
                <a:solidFill>
                  <a:srgbClr val="F6ECD8"/>
                </a:solidFill>
              </a:rPr>
              <a:t>Bỏ Current, đưa khối kế tiếp lên — không tốn lượt đặt.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398DD-F91C-483E-A443-206DF80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90950"/>
            <a:ext cx="53911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DC90C-6B89-42DC-B492-BF5FE53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B64C"/>
                </a:solidFill>
              </a:defRPr>
            </a:pPr>
            <a:r>
              <a:rPr sz="1725" b="1">
                <a:solidFill>
                  <a:srgbClr val="E8B64C"/>
                </a:solidFill>
              </a:rPr>
              <a:t>Hint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FA716-49DC-43EB-8015-4F0E8712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6ECD8"/>
                </a:solidFill>
              </a:defRPr>
            </a:pPr>
            <a:r>
              <a:rPr sz="1350" b="0">
                <a:solidFill>
                  <a:srgbClr val="F6ECD8"/>
                </a:solidFill>
              </a:rPr>
              <a:t>DFS từ trạng thái live, highlight vị trí đặt tiếp theo — không tốn lượt.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8625A-D07A-40F1-B6AB-72E25CC1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197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B9E"/>
                </a:solidFill>
              </a:defRPr>
            </a:pPr>
            <a:r>
              <a:rPr sz="1425" b="0">
                <a:solidFill>
                  <a:srgbClr val="CDBB9E"/>
                </a:solidFill>
              </a:rPr>
              <a:t>Người chơi mới: 5 Đổi khối + 5 Hint trong kho dùng chung.</a:t>
            </a:r>
          </a:p>
        </p:txBody>
      </p:sp>
    </p:spTree>
    <p:extLst>
      <p:ext uri="{BB962C8B-B14F-4D97-AF65-F5344CB8AC3E}">
        <p14:creationId xmlns:p14="http://schemas.microsoft.com/office/powerpoint/2010/main" val="585096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86BDA-FEFA-4F67-9912-18F95DCE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EF884-A6F8-4F2E-A972-BE0D5A4B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ENGAGEMENT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89D6C-C455-4ECF-A8B7-39512AAD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FED03-3259-418E-AA0C-AF33F9F1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36E3B-9606-4BDB-B001-B94C383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2E7E3-4963-474F-B6B7-50FC079A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Vòng lặp hằng ngày đặt trên core loop thay vì thay thế nó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B35C1-168F-4746-9E43-CE22EE0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912A6-9030-4019-8517-7DDEA225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Quest và điểm danh tái sử dụng Xu / booster, không có kho tài nguyên riêng.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faaca480f4276"/>
          <a:srcRect xmlns:a="http://schemas.openxmlformats.org/drawingml/2006/main" l="0" t="26486" r="0" b="26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305050"/>
            <a:ext cx="3219450" cy="327660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5cb89ff184cd3"/>
          <a:srcRect xmlns:a="http://schemas.openxmlformats.org/drawingml/2006/main" l="0" t="26486" r="0" b="264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2305050"/>
            <a:ext cx="3219450" cy="3276600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7E675-DCB3-4FF1-9EDF-9F6B5F19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2609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4FDB1-A45E-433D-A3A5-172E160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B64C"/>
                </a:solidFill>
              </a:defRPr>
            </a:pPr>
            <a:r>
              <a:rPr sz="2550" b="1">
                <a:solidFill>
                  <a:srgbClr val="E8B64C"/>
                </a:solidFill>
              </a:rPr>
              <a:t>3 /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89E92-F02B-43BC-9157-E04A50BC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nhiệm vụ được chọn xác định theo ngày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1DD25-846E-410C-A4F5-451BA0E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26098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2F49B-B7B1-49DF-AFBC-1D74032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B64C"/>
                </a:solidFill>
              </a:defRPr>
            </a:pPr>
            <a:r>
              <a:rPr sz="2250" b="1">
                <a:solidFill>
                  <a:srgbClr val="E8B64C"/>
                </a:solidFill>
              </a:rPr>
              <a:t>30 ngày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C49E4-FC22-4F7B-8971-F8D38173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006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điểm danh cộng dồn, không phạt khi bỏ lỡ</a:t>
            </a:r>
          </a:p>
        </p:txBody>
      </p:sp>
    </p:spTree>
    <p:extLst>
      <p:ext uri="{BB962C8B-B14F-4D97-AF65-F5344CB8AC3E}">
        <p14:creationId xmlns:p14="http://schemas.microsoft.com/office/powerpoint/2010/main" val="6815834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008DF-566B-44EA-9972-7F0DC835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DC5838-5FE6-4AC4-AD8A-E64AF26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ECONOMY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D8C49-C4A5-40BD-9BC2-F6451C4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1242F-CD8E-4F0A-AA1B-846649A9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CD260-53AB-492D-BD0F-DA8B4063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3F14E-DEE7-47CE-85D6-661BE4E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Economy thiên về cosmetic, với booster là một sink cần được cân nhắc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6E74-25BE-4503-ABF3-A2E5CAAF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BD0CD-9A6C-4EFF-8122-97D3661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GDD quy định economy không được chỉnh luật thắng / thua của core loop.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f5eb85fb849eb"/>
          <a:srcRect xmlns:a="http://schemas.openxmlformats.org/drawingml/2006/main" l="0" t="22432" r="0" b="224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1943100"/>
            <a:ext cx="3352800" cy="4000500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925C1-0186-4CE5-8CAC-2DE0842C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5816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9BF7F-D1FC-45CA-B5FB-8832700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B64C"/>
                </a:solidFill>
              </a:defRPr>
            </a:pPr>
            <a:r>
              <a:rPr sz="1800" b="1">
                <a:solidFill>
                  <a:srgbClr val="E8B64C"/>
                </a:solidFill>
              </a:rPr>
              <a:t>12 skin quân bài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B4CD7-D45C-478A-8139-6AFA20B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ECD8"/>
                </a:solidFill>
              </a:defRPr>
            </a:pPr>
            <a:r>
              <a:rPr sz="1275" b="0">
                <a:solidFill>
                  <a:srgbClr val="F6ECD8"/>
                </a:solidFill>
              </a:rPr>
              <a:t>0–2.265 Xu; skin mặc định miễn phí.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A5A21-E751-498A-8F2E-86633C1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55816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4F51F-41A0-40C7-ACAA-BE3518BA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B64C"/>
                </a:solidFill>
              </a:defRPr>
            </a:pPr>
            <a:r>
              <a:rPr sz="1800" b="1">
                <a:solidFill>
                  <a:srgbClr val="E8B64C"/>
                </a:solidFill>
              </a:rPr>
              <a:t>11 skin bàn cờ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F2FD2-50DB-4D0F-A8CB-7185F9C0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ECD8"/>
                </a:solidFill>
              </a:defRPr>
            </a:pPr>
            <a:r>
              <a:rPr sz="1275" b="0">
                <a:solidFill>
                  <a:srgbClr val="F6ECD8"/>
                </a:solidFill>
              </a:rPr>
              <a:t>0–2.150 Xu; toàn bộ là cosmetic.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2330D-6F97-454C-A279-8F4D5049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5816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33A26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99F31-28B2-4FDA-958D-E7675A6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ECD8"/>
                </a:solidFill>
              </a:defRPr>
            </a:pPr>
            <a:r>
              <a:rPr sz="1800" b="1">
                <a:solidFill>
                  <a:srgbClr val="F6ECD8"/>
                </a:solidFill>
              </a:rPr>
              <a:t>Gói 5 booster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EED1AD-D6FD-4D9C-B521-0502B89F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100 Xu / gói; là điểm còn cần quyết định về ưu tiên core versus buff phụ.</a:t>
            </a:r>
          </a:p>
        </p:txBody>
      </p:sp>
    </p:spTree>
    <p:extLst>
      <p:ext uri="{BB962C8B-B14F-4D97-AF65-F5344CB8AC3E}">
        <p14:creationId xmlns:p14="http://schemas.microsoft.com/office/powerpoint/2010/main" val="1764299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D67E3-BB64-4262-98DE-01517535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24112-255A-407D-8382-054EDB9D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B64C"/>
                </a:solidFill>
              </a:defRPr>
            </a:pPr>
            <a:r>
              <a:rPr sz="975" b="1">
                <a:solidFill>
                  <a:srgbClr val="E8B64C"/>
                </a:solidFill>
              </a:rPr>
              <a:t>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41C79-E9C9-4D8D-B11F-AB4A9B41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DBB9E"/>
                </a:solidFill>
              </a:defRPr>
            </a:pPr>
            <a:r>
              <a:rPr sz="975" b="1">
                <a:solidFill>
                  <a:srgbClr val="CDBB9E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0CC40-A4E9-4E58-B966-86CFE7E3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72F"/>
          </a:solidFill>
          <a:ln xmlns:a="http://schemas.openxmlformats.org/drawingml/2006/main" w="0">
            <a:solidFill>
              <a:srgbClr val="7B57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A97CD-7DC2-4DAB-8585-622E0F7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DBB9E"/>
                </a:solidFill>
              </a:defRPr>
            </a:pPr>
            <a:r>
              <a:rPr sz="750" b="0">
                <a:solidFill>
                  <a:srgbClr val="CDBB9E"/>
                </a:solidFill>
              </a:rPr>
              <a:t>Nguồn: GDD Tổng Hợp — Mahjong × Block (Final Core)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60792-0AF8-42EE-A617-9E099B5C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Nội dung deterministic đã có “lan can” kỹ thuật; rủi ro chính còn là trải nghiệm thật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83375-D673-4CD0-9D2D-E06297D1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6C5F2-5930-4454-BD01-1ED002B9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BB9E"/>
                </a:solidFill>
              </a:defRPr>
            </a:pPr>
            <a:r>
              <a:rPr sz="1500" b="0">
                <a:solidFill>
                  <a:srgbClr val="CDBB9E"/>
                </a:solidFill>
              </a:rPr>
              <a:t>Mỗi lần tải, self-test kiểm tra luật, dữ liệu và lời giải authored.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86ED1-895B-4FC7-9D0E-39F2C508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819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5CD4A-E325-475E-9F26-6ED81EF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6A94D"/>
                </a:solidFill>
              </a:defRPr>
            </a:pPr>
            <a:r>
              <a:rPr sz="2400" b="1">
                <a:solidFill>
                  <a:srgbClr val="86A94D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07262-14FC-40F3-A7D6-6B88B48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ECD8"/>
                </a:solidFill>
              </a:defRPr>
            </a:pPr>
            <a:r>
              <a:rPr sz="1950" b="1">
                <a:solidFill>
                  <a:srgbClr val="F6ECD8"/>
                </a:solidFill>
              </a:rPr>
              <a:t>50 / 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BC976-B348-4DD4-9041-D0B7E689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level có lời giải authored đạt điều kiện thắng dưới luật hiện tại.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A5896-215D-4834-A863-4608480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19350"/>
            <a:ext cx="4819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88B91-3956-4B96-9C11-715EBC06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051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86A94D"/>
                </a:solidFill>
              </a:defRPr>
            </a:pPr>
            <a:r>
              <a:rPr sz="2400" b="1">
                <a:solidFill>
                  <a:srgbClr val="86A94D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DBC73-2B68-46C5-ADAD-EE22E107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ECD8"/>
                </a:solidFill>
              </a:defRPr>
            </a:pPr>
            <a:r>
              <a:rPr sz="1950" b="1">
                <a:solidFill>
                  <a:srgbClr val="F6ECD8"/>
                </a:solidFill>
              </a:rPr>
              <a:t>2–5 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72944-7702-4291-A013-596A42EE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mọi khối chính thức hợp lệ; tránh tự-Match ngoài ngoại lệ Level 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58526-5E2A-45CF-BF62-CBA39F7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819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C3921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4837B-A89E-4AA6-A866-932575F9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B64C"/>
                </a:solidFill>
              </a:defRPr>
            </a:pPr>
            <a:r>
              <a:rPr sz="2400" b="1">
                <a:solidFill>
                  <a:srgbClr val="E8B64C"/>
                </a:solidFill>
              </a:rPr>
              <a:t>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ECF9E-D442-4D6A-A319-FA4E146B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ECD8"/>
                </a:solidFill>
              </a:defRPr>
            </a:pPr>
            <a:r>
              <a:rPr sz="1950" b="1">
                <a:solidFill>
                  <a:srgbClr val="F6ECD8"/>
                </a:solidFill>
              </a:rPr>
              <a:t>~6,85 MB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0E2A6-DF00-437B-8237-2B4B66E3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HTML tự chứa; cần đo độ mượt trên thiết bị yếu bằng playtest thật.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0FCB2C-A473-4F76-8CBB-8BD5C4C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48196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5C3921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60536-46C3-40A7-9CF7-93F959BD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8B64C"/>
                </a:solidFill>
              </a:defRPr>
            </a:pPr>
            <a:r>
              <a:rPr sz="2400" b="1">
                <a:solidFill>
                  <a:srgbClr val="E8B64C"/>
                </a:solidFill>
              </a:rPr>
              <a:t>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779D1-16D5-4188-89F8-ACF3E11C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ECD8"/>
                </a:solidFill>
              </a:defRPr>
            </a:pPr>
            <a:r>
              <a:rPr sz="1950" b="1">
                <a:solidFill>
                  <a:srgbClr val="F6ECD8"/>
                </a:solidFill>
              </a:rPr>
              <a:t>Nợ kỹ thuật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D2A1D-1AAC-45D6-8AC7-07A0A530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62500"/>
            <a:ext cx="3371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DBB9E"/>
                </a:solidFill>
              </a:defRPr>
            </a:pPr>
            <a:r>
              <a:rPr sz="1200" b="0">
                <a:solidFill>
                  <a:srgbClr val="CDBB9E"/>
                </a:solidFill>
              </a:rPr>
              <a:t>prototype tầng 1 vẫn còn trong file và cần refactor rủi ro cao.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DF07D-4B34-43AB-AA17-CA8873E0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86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64C"/>
                </a:solidFill>
              </a:defRPr>
            </a:pPr>
            <a:r>
              <a:rPr sz="1350" b="1">
                <a:solidFill>
                  <a:srgbClr val="E8B64C"/>
                </a:solidFill>
              </a:rPr>
              <a:t>Chế độ generative mới qua mô phỏng bot, chưa qua playtest người thật.</a:t>
            </a:r>
          </a:p>
        </p:txBody>
      </p:sp>
    </p:spTree>
    <p:extLst>
      <p:ext uri="{BB962C8B-B14F-4D97-AF65-F5344CB8AC3E}">
        <p14:creationId xmlns:p14="http://schemas.microsoft.com/office/powerpoint/2010/main" val="881593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0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a0a51763c4ce5"/>
          <a:srcRect xmlns:a="http://schemas.openxmlformats.org/drawingml/2006/main" l="0" t="12020" r="0" b="120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7D261-A2FE-4C8E-A57B-E889B7DB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009"/>
          </a:solidFill>
          <a:ln xmlns:a="http://schemas.openxmlformats.org/drawingml/2006/main" w="0">
            <a:solidFill>
              <a:srgbClr val="1B100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BA66B-DE74-408B-92FB-78B0A72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352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64C"/>
          </a:solidFill>
          <a:ln xmlns:a="http://schemas.openxmlformats.org/drawingml/2006/main" w="0">
            <a:solidFill>
              <a:srgbClr val="E8B6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3EC47-5C6E-417D-9DBA-2264858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ECD8"/>
                </a:solidFill>
              </a:defRPr>
            </a:pPr>
            <a:r>
              <a:rPr sz="3150" b="1">
                <a:solidFill>
                  <a:srgbClr val="F6ECD8"/>
                </a:solidFill>
              </a:rPr>
              <a:t>Quyết định tiếp theo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80E3C-08F3-442A-A5C7-5CD447FB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28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E08BA-88E2-4770-8F11-7F7B4681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ECD8"/>
                </a:solidFill>
              </a:defRPr>
            </a:pPr>
            <a:r>
              <a:rPr sz="1500" b="1">
                <a:solidFill>
                  <a:srgbClr val="F6ECD8"/>
                </a:solidFill>
              </a:rPr>
              <a:t>01  Chạy playtest người thật, ưu tiên thiết bị yếu.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DDBCA-6E6B-4BAC-B7D8-9420B87D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628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5C3921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86AA0-904E-43D6-BDFC-1132995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ECD8"/>
                </a:solidFill>
              </a:defRPr>
            </a:pPr>
            <a:r>
              <a:rPr sz="1500" b="1">
                <a:solidFill>
                  <a:srgbClr val="F6ECD8"/>
                </a:solidFill>
              </a:rPr>
              <a:t>02  Quyết định giữ hay đưa generative mode vào bản chính thức.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622F9-49BA-4B07-94D2-CE993345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6286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A2417"/>
          </a:solidFill>
          <a:ln xmlns:a="http://schemas.openxmlformats.org/drawingml/2006/main" w="9525">
            <a:solidFill>
              <a:srgbClr val="7B57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60967-AEF3-4D0F-8787-ACCFAF83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ECD8"/>
                </a:solidFill>
              </a:defRPr>
            </a:pPr>
            <a:r>
              <a:rPr sz="1500" b="1">
                <a:solidFill>
                  <a:srgbClr val="F6ECD8"/>
                </a:solidFill>
              </a:rPr>
              <a:t>03  Đối chiếu booster-upgrade với định hướng ưu tiên core gameplay.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BEABC-A451-4370-ADEE-D70CBA3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BB9E"/>
                </a:solidFill>
              </a:defRPr>
            </a:pPr>
            <a:r>
              <a:rPr sz="1425" b="0">
                <a:solidFill>
                  <a:srgbClr val="CDBB9E"/>
                </a:solidFill>
              </a:rPr>
              <a:t>Mahjong × Block đã có một core loop khác biệt, curriculum 50 màn và vòng lặp hỗ trợ được định nghĩa rõ; bước tiếp theo là kiểm chứng cảm nhận người chơi.</a:t>
            </a:r>
          </a:p>
        </p:txBody>
      </p:sp>
    </p:spTree>
    <p:extLst>
      <p:ext uri="{BB962C8B-B14F-4D97-AF65-F5344CB8AC3E}">
        <p14:creationId xmlns:p14="http://schemas.microsoft.com/office/powerpoint/2010/main" val="1392762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2026-09-09T12:56:24.6770000Z</dcterms:created>
  <dcterms:modified xsi:type="dcterms:W3CDTF">2026-09-09T12:56:24.6770000Z</dcterms:modified>
</coreProperties>
</file>